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y="5143500" cx="9144000"/>
  <p:notesSz cx="6858000" cy="9144000"/>
  <p:embeddedFontLst>
    <p:embeddedFont>
      <p:font typeface="Noto Sans"/>
      <p:regular r:id="rId55"/>
      <p:bold r:id="rId56"/>
      <p:italic r:id="rId57"/>
      <p:boldItalic r:id="rId58"/>
    </p:embeddedFont>
    <p:embeddedFont>
      <p:font typeface="Arial Black"/>
      <p:regular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font" Target="fonts/NotoSans-regular.fntdata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font" Target="fonts/NotoSans-italic.fntdata"/><Relationship Id="rId12" Type="http://schemas.openxmlformats.org/officeDocument/2006/relationships/slide" Target="slides/slide6.xml"/><Relationship Id="rId56" Type="http://schemas.openxmlformats.org/officeDocument/2006/relationships/font" Target="fonts/NotoSans-bold.fntdata"/><Relationship Id="rId15" Type="http://schemas.openxmlformats.org/officeDocument/2006/relationships/slide" Target="slides/slide9.xml"/><Relationship Id="rId59" Type="http://schemas.openxmlformats.org/officeDocument/2006/relationships/font" Target="fonts/ArialBlack-regular.fntdata"/><Relationship Id="rId14" Type="http://schemas.openxmlformats.org/officeDocument/2006/relationships/slide" Target="slides/slide8.xml"/><Relationship Id="rId58" Type="http://schemas.openxmlformats.org/officeDocument/2006/relationships/font" Target="fonts/NotoSans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790827d25_2_0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d790827d25_2_0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" name="Google Shape;55;g3d790827d25_2_0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790827d25_2_26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d790827d25_2_26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g3d790827d25_2_26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7a681dc07_3_8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d7a681dc07_3_8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790827d25_2_73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d790827d25_2_73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g3d790827d25_2_73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790827d25_2_118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d790827d25_2_118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g3d790827d25_2_118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790827d25_2_151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3d790827d25_2_151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g3d790827d25_2_151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d790827d25_2_177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g3d790827d25_2_177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g3d790827d25_2_177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d7a681dc07_3_809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g3d7a681dc07_3_809:notes"/>
          <p:cNvSpPr txBox="1"/>
          <p:nvPr>
            <p:ph idx="1" type="body"/>
          </p:nvPr>
        </p:nvSpPr>
        <p:spPr>
          <a:xfrm>
            <a:off x="685800" y="3300500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g3d7a681dc07_3_809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d790827d25_2_209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g3d790827d25_2_209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8" name="Google Shape;308;g3d790827d25_2_209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d7a681dc07_3_9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d7a681dc07_3_9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d7a681dc07_3_1199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g3d7a681dc07_3_1199:notes"/>
          <p:cNvSpPr txBox="1"/>
          <p:nvPr>
            <p:ph idx="1" type="body"/>
          </p:nvPr>
        </p:nvSpPr>
        <p:spPr>
          <a:xfrm>
            <a:off x="685800" y="3300500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7" name="Google Shape;357;g3d7a681dc07_3_1199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d790827d25_2_252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g3d790827d25_2_252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g3d790827d25_2_252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d7a681dc07_3_1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d7a681dc07_3_1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d78b89b86b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d78b89b86b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d78b89b86b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d78b89b86b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d78b89b86b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d78b89b86b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d78b89b86b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d78b89b86b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d78b89b86b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d78b89b86b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d78b89b86b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d78b89b86b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d78b89b86b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d78b89b86b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d78b89b86b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d78b89b86b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d78b89b86b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d78b89b86b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d78b89b86b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d78b89b86b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d78b89b86b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d78b89b86b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d78b89b86b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d78b89b86b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d78b89b86b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d78b89b86b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d78b89b86b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3d78b89b86b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d78b89b86b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d78b89b86b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d78b89b86b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3d78b89b86b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d78b89b86b_8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d78b89b86b_8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d78b89b86b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3d78b89b86b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d78b89b86b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3d78b89b86b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d78b89b86b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3d78b89b86b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d790827d2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3d790827d2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d790827d25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3d790827d2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d790827d2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3d790827d2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d790827d2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3d790827d2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d7a681dc07_3_9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3d7a681dc07_3_9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d78b89b86b_6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3d78b89b86b_6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d7a681dc07_3_77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6" name="Google Shape;636;g3d7a681dc07_3_77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g3d7a681dc07_3_77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d7a681dc07_3_52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0" name="Google Shape;670;g3d7a681dc07_3_52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g3d7a681dc07_3_52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d7a681dc07_3_58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5" name="Google Shape;705;g3d7a681dc07_3_58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g3d7a681dc07_3_58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3d7a681dc07_3_62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0" name="Google Shape;740;g3d7a681dc07_3_62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g3d7a681dc07_3_62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3d7a681dc07_3_65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5" name="Google Shape;775;g3d7a681dc07_3_65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g3d7a681dc07_3_65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3d7a681dc07_3_69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9" name="Google Shape;809;g3d7a681dc07_3_69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g3d7a681dc07_3_69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3d7a681dc07_3_72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4" name="Google Shape;844;g3d7a681dc07_3_72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g3d7a681dc07_3_72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3d7a681dc07_3_55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1" name="Google Shape;881;g3d7a681dc07_3_55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g3d7a681dc07_3_55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3d7a681dc07_3_50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6" name="Google Shape;916;g3d7a681dc07_3_50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질문 받겠습니다. 감사합니다.</a:t>
            </a:r>
            <a:endParaRPr/>
          </a:p>
        </p:txBody>
      </p:sp>
      <p:sp>
        <p:nvSpPr>
          <p:cNvPr id="917" name="Google Shape;917;g3d7a681dc07_3_50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2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2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Relationship Id="rId4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9.png"/><Relationship Id="rId5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png"/><Relationship Id="rId4" Type="http://schemas.openxmlformats.org/officeDocument/2006/relationships/image" Target="../media/image3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.png"/><Relationship Id="rId4" Type="http://schemas.openxmlformats.org/officeDocument/2006/relationships/image" Target="../media/image4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0.png"/><Relationship Id="rId4" Type="http://schemas.openxmlformats.org/officeDocument/2006/relationships/image" Target="../media/image39.png"/><Relationship Id="rId5" Type="http://schemas.openxmlformats.org/officeDocument/2006/relationships/image" Target="../media/image4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1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9144019" cy="514350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F7F5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5"/>
          <p:cNvSpPr/>
          <p:nvPr/>
        </p:nvSpPr>
        <p:spPr>
          <a:xfrm>
            <a:off x="0" y="0"/>
            <a:ext cx="5589374" cy="5143500"/>
          </a:xfrm>
          <a:prstGeom prst="rect">
            <a:avLst/>
          </a:prstGeom>
          <a:solidFill>
            <a:srgbClr val="323438"/>
          </a:solidFill>
          <a:ln cap="flat" cmpd="sng" w="12700">
            <a:solidFill>
              <a:srgbClr val="3234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5589419" y="0"/>
            <a:ext cx="3554596" cy="5143500"/>
          </a:xfrm>
          <a:prstGeom prst="rect">
            <a:avLst/>
          </a:prstGeom>
          <a:solidFill>
            <a:srgbClr val="2A2C2F"/>
          </a:solidFill>
          <a:ln cap="flat" cmpd="sng" w="12700">
            <a:solidFill>
              <a:srgbClr val="2A2C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288044" y="288036"/>
            <a:ext cx="2400364" cy="150876"/>
          </a:xfrm>
          <a:prstGeom prst="rect">
            <a:avLst/>
          </a:prstGeom>
          <a:solidFill>
            <a:srgbClr val="A61F1F"/>
          </a:solidFill>
          <a:ln cap="flat" cmpd="sng" w="12700">
            <a:solidFill>
              <a:srgbClr val="A6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377200" y="308610"/>
            <a:ext cx="2194709" cy="82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Noto Sans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DACON |  온라인 채널 판매량 예측 해커톤</a:t>
            </a:r>
            <a:endParaRPr b="0" i="0" sz="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377200" y="822960"/>
            <a:ext cx="2880437" cy="154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Noto Sans"/>
              <a:buNone/>
            </a:pPr>
            <a:r>
              <a:rPr b="1" i="0" lang="ko" sz="17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온라인 채널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Noto Sans"/>
              <a:buNone/>
            </a:pPr>
            <a:r>
              <a:rPr b="1" i="0" lang="ko" sz="17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제품 판매량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Noto Sans"/>
              <a:buNone/>
            </a:pPr>
            <a:r>
              <a:rPr b="1" i="0" lang="ko" sz="17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예측 프로젝트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397775" y="2434590"/>
            <a:ext cx="40463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D7DB"/>
              </a:buClr>
              <a:buSzPts val="1000"/>
              <a:buFont typeface="Noto Sans"/>
              <a:buNone/>
            </a:pPr>
            <a:r>
              <a:rPr b="0" i="0" lang="ko" sz="1000" u="none" cap="none" strike="noStrike">
                <a:solidFill>
                  <a:srgbClr val="D5D7DB"/>
                </a:solidFill>
                <a:latin typeface="Noto Sans"/>
                <a:ea typeface="Noto Sans"/>
                <a:cs typeface="Noto Sans"/>
                <a:sym typeface="Noto Sans"/>
              </a:rPr>
              <a:t>데이터를 해석하고, 지표를 다시 읽고, 전략을 수정한 과정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446710" y="3703310"/>
            <a:ext cx="1080929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25" lIns="90050" spcFirstLastPara="1" rIns="90050" wrap="square" tIns="45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"/>
              <a:buNone/>
            </a:pPr>
            <a:r>
              <a:rPr b="1" i="0" lang="ko" sz="1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15,890</a:t>
            </a:r>
            <a:endParaRPr b="0" i="0" sz="1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356638" y="4000549"/>
            <a:ext cx="1260934" cy="162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25" lIns="90050" spcFirstLastPara="1" rIns="90050" wrap="square" tIns="45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CD2"/>
              </a:buClr>
              <a:buSzPts val="800"/>
              <a:buFont typeface="Noto Sans"/>
              <a:buNone/>
            </a:pPr>
            <a:r>
              <a:rPr b="0" i="0" lang="ko" sz="800" u="none" cap="none" strike="noStrike">
                <a:solidFill>
                  <a:srgbClr val="C9CCD2"/>
                </a:solidFill>
                <a:latin typeface="Noto Sans"/>
                <a:ea typeface="Noto Sans"/>
                <a:cs typeface="Noto Sans"/>
                <a:sym typeface="Noto Sans"/>
              </a:rPr>
              <a:t>예측 제품 수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1851844" y="3703310"/>
            <a:ext cx="1080929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25" lIns="90050" spcFirstLastPara="1" rIns="90050" wrap="square" tIns="45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"/>
              <a:buNone/>
            </a:pPr>
            <a:r>
              <a:rPr b="1" i="0" lang="ko" sz="1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21일</a:t>
            </a:r>
            <a:endParaRPr b="0" i="0" sz="1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1761771" y="4000549"/>
            <a:ext cx="1260934" cy="162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25" lIns="90050" spcFirstLastPara="1" rIns="90050" wrap="square" tIns="45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CD2"/>
              </a:buClr>
              <a:buSzPts val="800"/>
              <a:buFont typeface="Noto Sans"/>
              <a:buNone/>
            </a:pPr>
            <a:r>
              <a:rPr b="0" i="0" lang="ko" sz="800" u="none" cap="none" strike="noStrike">
                <a:solidFill>
                  <a:srgbClr val="C9CCD2"/>
                </a:solidFill>
                <a:latin typeface="Noto Sans"/>
                <a:ea typeface="Noto Sans"/>
                <a:cs typeface="Noto Sans"/>
                <a:sym typeface="Noto Sans"/>
              </a:rPr>
              <a:t>예측 기간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3256976" y="3703310"/>
            <a:ext cx="1080929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25" lIns="90050" spcFirstLastPara="1" rIns="90050" wrap="square" tIns="45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"/>
              <a:buNone/>
            </a:pPr>
            <a:r>
              <a:rPr b="1" i="0" lang="ko" sz="1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0.4336</a:t>
            </a:r>
            <a:endParaRPr b="0" i="0" sz="1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3166829" y="4000549"/>
            <a:ext cx="1260934" cy="162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25" lIns="90050" spcFirstLastPara="1" rIns="90050" wrap="square" tIns="450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ko" sz="800" u="none" cap="none" strike="noStrike">
                <a:solidFill>
                  <a:srgbClr val="C9CCD2"/>
                </a:solidFill>
                <a:latin typeface="Noto Sans"/>
                <a:ea typeface="Noto Sans"/>
                <a:cs typeface="Noto Sans"/>
                <a:sym typeface="Noto Sans"/>
              </a:rPr>
              <a:t>DACON Private score</a:t>
            </a:r>
            <a:endParaRPr b="0" i="0" sz="800" u="none" cap="none" strike="noStrike">
              <a:solidFill>
                <a:srgbClr val="C9CCD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70" name="Google Shape;70;p15"/>
          <p:cNvCxnSpPr/>
          <p:nvPr/>
        </p:nvCxnSpPr>
        <p:spPr>
          <a:xfrm>
            <a:off x="1617654" y="3757353"/>
            <a:ext cx="0" cy="405450"/>
          </a:xfrm>
          <a:prstGeom prst="straightConnector1">
            <a:avLst/>
          </a:prstGeom>
          <a:noFill/>
          <a:ln cap="flat" cmpd="sng" w="16675">
            <a:solidFill>
              <a:srgbClr val="6B707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" name="Google Shape;71;p15"/>
          <p:cNvCxnSpPr/>
          <p:nvPr/>
        </p:nvCxnSpPr>
        <p:spPr>
          <a:xfrm>
            <a:off x="3022788" y="3757353"/>
            <a:ext cx="0" cy="405450"/>
          </a:xfrm>
          <a:prstGeom prst="straightConnector1">
            <a:avLst/>
          </a:prstGeom>
          <a:noFill/>
          <a:ln cap="flat" cmpd="sng" w="16675">
            <a:solidFill>
              <a:srgbClr val="6B707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15"/>
          <p:cNvSpPr/>
          <p:nvPr/>
        </p:nvSpPr>
        <p:spPr>
          <a:xfrm>
            <a:off x="5932328" y="651510"/>
            <a:ext cx="144021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Noto Sans"/>
              <a:buNone/>
            </a:pPr>
            <a:r>
              <a:rPr b="1" i="0" lang="ko" sz="11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발표 구성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5952903" y="1028700"/>
            <a:ext cx="253752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8DD"/>
              </a:buClr>
              <a:buSzPts val="800"/>
              <a:buFont typeface="Noto Sans"/>
              <a:buNone/>
            </a:pPr>
            <a:r>
              <a:rPr b="0" i="0" lang="ko" sz="800" u="none" cap="none" strike="noStrike">
                <a:solidFill>
                  <a:srgbClr val="D4D8DD"/>
                </a:solidFill>
                <a:latin typeface="Noto Sans"/>
                <a:ea typeface="Noto Sans"/>
                <a:cs typeface="Noto Sans"/>
                <a:sym typeface="Noto Sans"/>
              </a:rPr>
              <a:t>Part 1  문제 정의 및 데이터 해석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5952903" y="1261872"/>
            <a:ext cx="253752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8DD"/>
              </a:buClr>
              <a:buSzPts val="800"/>
              <a:buFont typeface="Noto Sans"/>
              <a:buNone/>
            </a:pPr>
            <a:r>
              <a:rPr b="0" i="0" lang="ko" sz="800" u="none" cap="none" strike="noStrike">
                <a:solidFill>
                  <a:srgbClr val="D4D8DD"/>
                </a:solidFill>
                <a:latin typeface="Noto Sans"/>
                <a:ea typeface="Noto Sans"/>
                <a:cs typeface="Noto Sans"/>
                <a:sym typeface="Noto Sans"/>
              </a:rPr>
              <a:t>Part 2  지표 재해석과 전략 전환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5952903" y="1495044"/>
            <a:ext cx="253752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8DD"/>
              </a:buClr>
              <a:buSzPts val="800"/>
              <a:buFont typeface="Noto Sans"/>
              <a:buNone/>
            </a:pPr>
            <a:r>
              <a:rPr b="0" i="0" lang="ko" sz="800" u="none" cap="none" strike="noStrike">
                <a:solidFill>
                  <a:srgbClr val="D4D8DD"/>
                </a:solidFill>
                <a:latin typeface="Noto Sans"/>
                <a:ea typeface="Noto Sans"/>
                <a:cs typeface="Noto Sans"/>
                <a:sym typeface="Noto Sans"/>
              </a:rPr>
              <a:t>Part 3  최종 </a:t>
            </a:r>
            <a:r>
              <a:rPr lang="ko" sz="800">
                <a:solidFill>
                  <a:srgbClr val="D4D8DD"/>
                </a:solidFill>
                <a:latin typeface="Noto Sans"/>
                <a:ea typeface="Noto Sans"/>
                <a:cs typeface="Noto Sans"/>
                <a:sym typeface="Noto Sans"/>
              </a:rPr>
              <a:t>정리와 </a:t>
            </a:r>
            <a:r>
              <a:rPr b="0" i="0" lang="ko" sz="800" u="none" cap="none" strike="noStrike">
                <a:solidFill>
                  <a:srgbClr val="D4D8DD"/>
                </a:solidFill>
                <a:latin typeface="Noto Sans"/>
                <a:ea typeface="Noto Sans"/>
                <a:cs typeface="Noto Sans"/>
                <a:sym typeface="Noto Sans"/>
              </a:rPr>
              <a:t>실전 팁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6227230" y="3737610"/>
            <a:ext cx="1680255" cy="425196"/>
          </a:xfrm>
          <a:prstGeom prst="rect">
            <a:avLst/>
          </a:prstGeom>
          <a:solidFill>
            <a:srgbClr val="C53A2E"/>
          </a:solidFill>
          <a:ln cap="flat" cmpd="sng" w="12700">
            <a:solidFill>
              <a:srgbClr val="C53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6254635" y="3861105"/>
            <a:ext cx="1625443" cy="1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"/>
              <a:buNone/>
            </a:pPr>
            <a:r>
              <a:rPr b="1" i="0" lang="ko" sz="9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TEAM	   |   SALES</a:t>
            </a:r>
            <a:endParaRPr b="1" sz="90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/>
          <p:nvPr/>
        </p:nvSpPr>
        <p:spPr>
          <a:xfrm>
            <a:off x="0" y="0"/>
            <a:ext cx="9144019" cy="514350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F7F5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" name="Google Shape;84;p16"/>
          <p:cNvCxnSpPr/>
          <p:nvPr/>
        </p:nvCxnSpPr>
        <p:spPr>
          <a:xfrm>
            <a:off x="240036" y="377190"/>
            <a:ext cx="8641310" cy="0"/>
          </a:xfrm>
          <a:prstGeom prst="straightConnector1">
            <a:avLst/>
          </a:prstGeom>
          <a:noFill/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16"/>
          <p:cNvSpPr/>
          <p:nvPr/>
        </p:nvSpPr>
        <p:spPr>
          <a:xfrm>
            <a:off x="240036" y="123444"/>
            <a:ext cx="4252073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1700"/>
              <a:buFont typeface="Noto Sans"/>
              <a:buNone/>
            </a:pPr>
            <a:r>
              <a:rPr b="1" i="0" lang="ko" sz="17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발표 흐름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240036" y="336042"/>
            <a:ext cx="5760874" cy="1028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D83"/>
              </a:buClr>
              <a:buSzPts val="600"/>
              <a:buFont typeface="Noto Sans"/>
              <a:buNone/>
            </a:pPr>
            <a:r>
              <a:rPr b="0" i="0" lang="ko" sz="600" u="none" cap="none" strike="noStrike">
                <a:solidFill>
                  <a:srgbClr val="7A7D83"/>
                </a:solidFill>
                <a:latin typeface="Noto Sans"/>
                <a:ea typeface="Noto Sans"/>
                <a:cs typeface="Noto Sans"/>
                <a:sym typeface="Noto Sans"/>
              </a:rPr>
              <a:t>새 흐름의 논리 + 이전 PPT의 디자인 언어 결합</a:t>
            </a:r>
            <a:endParaRPr b="0" i="0" sz="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7612583" y="109728"/>
            <a:ext cx="1063018" cy="164592"/>
          </a:xfrm>
          <a:prstGeom prst="rect">
            <a:avLst/>
          </a:prstGeom>
          <a:solidFill>
            <a:srgbClr val="A61F1F"/>
          </a:solidFill>
          <a:ln cap="flat" cmpd="sng" w="12700">
            <a:solidFill>
              <a:srgbClr val="A6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7612583" y="116586"/>
            <a:ext cx="1063018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Noto Sans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Overview</a:t>
            </a:r>
            <a:endParaRPr b="0" i="0" sz="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329193" y="1062990"/>
            <a:ext cx="1344204" cy="2057400"/>
          </a:xfrm>
          <a:prstGeom prst="roundRect">
            <a:avLst>
              <a:gd fmla="val 4082" name="adj"/>
            </a:avLst>
          </a:prstGeom>
          <a:solidFill>
            <a:srgbClr val="FFFFFF"/>
          </a:solidFill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27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761258" y="1543044"/>
            <a:ext cx="480163" cy="480150"/>
          </a:xfrm>
          <a:prstGeom prst="ellipse">
            <a:avLst/>
          </a:prstGeom>
          <a:solidFill>
            <a:srgbClr val="A61F1F"/>
          </a:solidFill>
          <a:ln cap="flat" cmpd="sng" w="12700">
            <a:solidFill>
              <a:srgbClr val="A6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761258" y="1625340"/>
            <a:ext cx="480163" cy="13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i="0" lang="ko" sz="1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452640" y="2393439"/>
            <a:ext cx="1097354" cy="356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1100"/>
              <a:buFont typeface="Noto Sans"/>
              <a:buNone/>
            </a:pPr>
            <a:r>
              <a:rPr b="1" i="0" lang="ko" sz="11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문제 정의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1100"/>
              <a:buFont typeface="Noto Sans"/>
              <a:buNone/>
            </a:pPr>
            <a:r>
              <a:rPr b="1" i="0" lang="ko" sz="11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&amp; 데이터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1693971" y="1968246"/>
            <a:ext cx="8229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1F1F"/>
              </a:buClr>
              <a:buSzPts val="1400"/>
              <a:buFont typeface="Noto Sans"/>
              <a:buNone/>
            </a:pPr>
            <a:r>
              <a:rPr b="1" i="0" lang="ko" sz="1400" u="none" cap="none" strike="noStrike">
                <a:solidFill>
                  <a:srgbClr val="A61F1F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1796844" y="1062990"/>
            <a:ext cx="1344204" cy="2057400"/>
          </a:xfrm>
          <a:prstGeom prst="roundRect">
            <a:avLst>
              <a:gd fmla="val 4082" name="adj"/>
            </a:avLst>
          </a:prstGeom>
          <a:solidFill>
            <a:srgbClr val="FFFFFF"/>
          </a:solidFill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27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2228909" y="1543091"/>
            <a:ext cx="480163" cy="480150"/>
          </a:xfrm>
          <a:prstGeom prst="ellipse">
            <a:avLst/>
          </a:prstGeom>
          <a:solidFill>
            <a:srgbClr val="A61F1F"/>
          </a:solidFill>
          <a:ln cap="flat" cmpd="sng" w="12700">
            <a:solidFill>
              <a:srgbClr val="A6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2228909" y="1625340"/>
            <a:ext cx="480163" cy="13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i="0" lang="ko" sz="1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1920291" y="2393439"/>
            <a:ext cx="1097354" cy="356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1100"/>
              <a:buFont typeface="Noto Sans"/>
              <a:buNone/>
            </a:pPr>
            <a:r>
              <a:rPr b="1" i="0" lang="ko" sz="11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EDA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1100"/>
              <a:buFont typeface="Noto Sans"/>
              <a:buNone/>
            </a:pPr>
            <a:r>
              <a:rPr b="1" i="0" lang="ko" sz="11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핵심 발견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3161622" y="1968246"/>
            <a:ext cx="8229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1F1F"/>
              </a:buClr>
              <a:buSzPts val="1400"/>
              <a:buFont typeface="Noto Sans"/>
              <a:buNone/>
            </a:pPr>
            <a:r>
              <a:rPr b="1" i="0" lang="ko" sz="1400" u="none" cap="none" strike="noStrike">
                <a:solidFill>
                  <a:srgbClr val="A61F1F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3264495" y="1062990"/>
            <a:ext cx="1344204" cy="2057400"/>
          </a:xfrm>
          <a:prstGeom prst="roundRect">
            <a:avLst>
              <a:gd fmla="val 4082" name="adj"/>
            </a:avLst>
          </a:prstGeom>
          <a:solidFill>
            <a:srgbClr val="FFFFFF"/>
          </a:solidFill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27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3696561" y="1543044"/>
            <a:ext cx="480163" cy="480150"/>
          </a:xfrm>
          <a:prstGeom prst="ellipse">
            <a:avLst/>
          </a:prstGeom>
          <a:solidFill>
            <a:srgbClr val="A61F1F"/>
          </a:solidFill>
          <a:ln cap="flat" cmpd="sng" w="12700">
            <a:solidFill>
              <a:srgbClr val="A6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3696561" y="1625340"/>
            <a:ext cx="480163" cy="13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i="0" lang="ko" sz="1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3387942" y="2393439"/>
            <a:ext cx="1097354" cy="356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1100"/>
              <a:buFont typeface="Noto Sans"/>
              <a:buNone/>
            </a:pPr>
            <a:r>
              <a:rPr b="1" i="0" lang="ko" sz="11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전처리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1100"/>
              <a:buFont typeface="Noto Sans"/>
              <a:buNone/>
            </a:pPr>
            <a:r>
              <a:rPr b="1" i="0" lang="ko" sz="11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&amp; 피처 설계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4629273" y="1968246"/>
            <a:ext cx="8229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1F1F"/>
              </a:buClr>
              <a:buSzPts val="1400"/>
              <a:buFont typeface="Noto Sans"/>
              <a:buNone/>
            </a:pPr>
            <a:r>
              <a:rPr b="1" i="0" lang="ko" sz="1400" u="none" cap="none" strike="noStrike">
                <a:solidFill>
                  <a:srgbClr val="A61F1F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4732146" y="1062990"/>
            <a:ext cx="1344204" cy="2057400"/>
          </a:xfrm>
          <a:prstGeom prst="roundRect">
            <a:avLst>
              <a:gd fmla="val 4082" name="adj"/>
            </a:avLst>
          </a:prstGeom>
          <a:solidFill>
            <a:srgbClr val="FFFFFF"/>
          </a:solidFill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27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5164212" y="1543044"/>
            <a:ext cx="480163" cy="480150"/>
          </a:xfrm>
          <a:prstGeom prst="ellipse">
            <a:avLst/>
          </a:prstGeom>
          <a:solidFill>
            <a:srgbClr val="A61F1F"/>
          </a:solidFill>
          <a:ln cap="flat" cmpd="sng" w="12700">
            <a:solidFill>
              <a:srgbClr val="A6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5164212" y="1625340"/>
            <a:ext cx="480163" cy="13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i="0" lang="ko" sz="1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4855593" y="2393439"/>
            <a:ext cx="1097354" cy="356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1100"/>
              <a:buFont typeface="Noto Sans"/>
              <a:buNone/>
            </a:pPr>
            <a:r>
              <a:rPr b="1" i="0" lang="ko" sz="11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지표 차이와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1100"/>
              <a:buFont typeface="Noto Sans"/>
              <a:buNone/>
            </a:pPr>
            <a:r>
              <a:rPr b="1" i="0" lang="ko" sz="11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전략 피벗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6096925" y="1968246"/>
            <a:ext cx="8229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1F1F"/>
              </a:buClr>
              <a:buSzPts val="1400"/>
              <a:buFont typeface="Noto Sans"/>
              <a:buNone/>
            </a:pPr>
            <a:r>
              <a:rPr b="1" i="0" lang="ko" sz="1400" u="none" cap="none" strike="noStrike">
                <a:solidFill>
                  <a:srgbClr val="A61F1F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6199797" y="1062990"/>
            <a:ext cx="1344186" cy="2057400"/>
          </a:xfrm>
          <a:prstGeom prst="roundRect">
            <a:avLst>
              <a:gd fmla="val 4082" name="adj"/>
            </a:avLst>
          </a:prstGeom>
          <a:solidFill>
            <a:srgbClr val="FFFFFF"/>
          </a:solidFill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27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6631863" y="1543044"/>
            <a:ext cx="480163" cy="480150"/>
          </a:xfrm>
          <a:prstGeom prst="ellipse">
            <a:avLst/>
          </a:prstGeom>
          <a:solidFill>
            <a:srgbClr val="A61F1F"/>
          </a:solidFill>
          <a:ln cap="flat" cmpd="sng" w="12700">
            <a:solidFill>
              <a:srgbClr val="A6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6631863" y="1625340"/>
            <a:ext cx="480163" cy="13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i="0" lang="ko" sz="1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6323245" y="2393439"/>
            <a:ext cx="1097354" cy="356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1100"/>
              <a:buFont typeface="Noto Sans"/>
              <a:buNone/>
            </a:pPr>
            <a:r>
              <a:rPr b="1" i="0" lang="ko" sz="11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최종</a:t>
            </a:r>
            <a:r>
              <a:rPr b="1" lang="ko" sz="1100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 정리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1100"/>
              <a:buFont typeface="Noto Sans"/>
              <a:buNone/>
            </a:pPr>
            <a:r>
              <a:rPr b="1" i="0" lang="ko" sz="11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&amp; 결과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7564576" y="1968246"/>
            <a:ext cx="82298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1F1F"/>
              </a:buClr>
              <a:buSzPts val="1400"/>
              <a:buFont typeface="Noto Sans"/>
              <a:buNone/>
            </a:pPr>
            <a:r>
              <a:rPr b="1" i="0" lang="ko" sz="1400" u="none" cap="none" strike="noStrike">
                <a:solidFill>
                  <a:srgbClr val="A61F1F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7667448" y="1062990"/>
            <a:ext cx="1344186" cy="2057400"/>
          </a:xfrm>
          <a:prstGeom prst="roundRect">
            <a:avLst>
              <a:gd fmla="val 4082" name="adj"/>
            </a:avLst>
          </a:prstGeom>
          <a:solidFill>
            <a:srgbClr val="FFFFFF"/>
          </a:solidFill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27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8099514" y="1543044"/>
            <a:ext cx="480163" cy="480150"/>
          </a:xfrm>
          <a:prstGeom prst="ellipse">
            <a:avLst/>
          </a:prstGeom>
          <a:solidFill>
            <a:srgbClr val="A61F1F"/>
          </a:solidFill>
          <a:ln cap="flat" cmpd="sng" w="12700">
            <a:solidFill>
              <a:srgbClr val="A6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8099514" y="1625340"/>
            <a:ext cx="480163" cy="13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i="0" lang="ko" sz="1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7790896" y="2327889"/>
            <a:ext cx="1097354" cy="356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1100"/>
              <a:buFont typeface="Noto Sans"/>
              <a:buNone/>
            </a:pPr>
            <a:r>
              <a:rPr b="1" i="0" lang="ko" sz="11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AI 활용 팁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1100"/>
              <a:buFont typeface="Noto Sans"/>
              <a:buNone/>
            </a:pPr>
            <a:r>
              <a:rPr b="1" i="0" lang="ko" sz="11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&amp; Q&amp;A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534833" y="3469350"/>
            <a:ext cx="2537618" cy="12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8DD"/>
              </a:buClr>
              <a:buSzPts val="800"/>
              <a:buFont typeface="Noto Sans"/>
              <a:buNone/>
            </a:pPr>
            <a:r>
              <a:rPr b="1" i="0" lang="ko" sz="1100" u="none" cap="none" strike="noStrike">
                <a:solidFill>
                  <a:schemeClr val="lt1"/>
                </a:solidFill>
                <a:highlight>
                  <a:srgbClr val="A61F1F"/>
                </a:highlight>
                <a:latin typeface="Noto Sans"/>
                <a:ea typeface="Noto Sans"/>
                <a:cs typeface="Noto Sans"/>
                <a:sym typeface="Noto Sans"/>
              </a:rPr>
              <a:t>Part 1  문제 정의 및 데이터 해석</a:t>
            </a:r>
            <a:endParaRPr b="1" i="0" sz="1100" u="none" cap="none" strike="noStrike">
              <a:solidFill>
                <a:schemeClr val="lt1"/>
              </a:solidFill>
              <a:highlight>
                <a:srgbClr val="A61F1F"/>
              </a:highlight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3470140" y="3469347"/>
            <a:ext cx="2537618" cy="12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8DD"/>
              </a:buClr>
              <a:buSzPts val="800"/>
              <a:buFont typeface="Noto Sans"/>
              <a:buNone/>
            </a:pPr>
            <a:r>
              <a:rPr b="1" i="0" lang="ko" sz="1100" u="none" cap="none" strike="noStrike">
                <a:solidFill>
                  <a:schemeClr val="lt1"/>
                </a:solidFill>
                <a:highlight>
                  <a:srgbClr val="A61F1F"/>
                </a:highlight>
                <a:latin typeface="Noto Sans"/>
                <a:ea typeface="Noto Sans"/>
                <a:cs typeface="Noto Sans"/>
                <a:sym typeface="Noto Sans"/>
              </a:rPr>
              <a:t>Part 2  지표 재해석과 전략 전환</a:t>
            </a:r>
            <a:endParaRPr b="1" i="0" sz="1100" u="none" cap="none" strike="noStrike">
              <a:solidFill>
                <a:schemeClr val="lt1"/>
              </a:solidFill>
              <a:highlight>
                <a:srgbClr val="A61F1F"/>
              </a:highlight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6336904" y="3469354"/>
            <a:ext cx="2537618" cy="12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8DD"/>
              </a:buClr>
              <a:buSzPts val="800"/>
              <a:buFont typeface="Noto Sans"/>
              <a:buNone/>
            </a:pPr>
            <a:r>
              <a:rPr b="1" i="0" lang="ko" sz="1100" u="none" cap="none" strike="noStrike">
                <a:solidFill>
                  <a:schemeClr val="lt1"/>
                </a:solidFill>
                <a:highlight>
                  <a:srgbClr val="A61F1F"/>
                </a:highlight>
                <a:latin typeface="Noto Sans"/>
                <a:ea typeface="Noto Sans"/>
                <a:cs typeface="Noto Sans"/>
                <a:sym typeface="Noto Sans"/>
              </a:rPr>
              <a:t>Part 3  최종 </a:t>
            </a:r>
            <a:r>
              <a:rPr b="1" lang="ko" sz="1100">
                <a:solidFill>
                  <a:schemeClr val="lt1"/>
                </a:solidFill>
                <a:highlight>
                  <a:srgbClr val="A61F1F"/>
                </a:highlight>
                <a:latin typeface="Noto Sans"/>
                <a:ea typeface="Noto Sans"/>
                <a:cs typeface="Noto Sans"/>
                <a:sym typeface="Noto Sans"/>
              </a:rPr>
              <a:t>정리</a:t>
            </a:r>
            <a:r>
              <a:rPr b="1" i="0" lang="ko" sz="1100" u="none" cap="none" strike="noStrike">
                <a:solidFill>
                  <a:schemeClr val="lt1"/>
                </a:solidFill>
                <a:highlight>
                  <a:srgbClr val="A61F1F"/>
                </a:highlight>
                <a:latin typeface="Noto Sans"/>
                <a:ea typeface="Noto Sans"/>
                <a:cs typeface="Noto Sans"/>
                <a:sym typeface="Noto Sans"/>
              </a:rPr>
              <a:t>과 실전 팁</a:t>
            </a:r>
            <a:endParaRPr b="1" i="0" sz="1100" u="none" cap="none" strike="noStrike">
              <a:solidFill>
                <a:schemeClr val="lt1"/>
              </a:solidFill>
              <a:highlight>
                <a:srgbClr val="A61F1F"/>
              </a:highlight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1315929" y="3867919"/>
            <a:ext cx="838372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1700"/>
              <a:buFont typeface="Noto Sans"/>
              <a:buNone/>
            </a:pPr>
            <a:r>
              <a:rPr b="1" i="0" lang="ko" sz="17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권희민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4251226" y="3867919"/>
            <a:ext cx="8385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ko" sz="17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양동녕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5867781" y="3867919"/>
            <a:ext cx="8385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ko" sz="17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조규형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7920361" y="3867919"/>
            <a:ext cx="838372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ko" sz="17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권희민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1A1A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/>
          <p:nvPr/>
        </p:nvSpPr>
        <p:spPr>
          <a:xfrm>
            <a:off x="1323600" y="2325450"/>
            <a:ext cx="649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Part 1  문제 정의 및 데이터 해석</a:t>
            </a:r>
            <a:endParaRPr b="1" sz="20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F7F5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" name="Google Shape;136;p18"/>
          <p:cNvCxnSpPr/>
          <p:nvPr/>
        </p:nvCxnSpPr>
        <p:spPr>
          <a:xfrm>
            <a:off x="240036" y="377190"/>
            <a:ext cx="8641310" cy="0"/>
          </a:xfrm>
          <a:prstGeom prst="straightConnector1">
            <a:avLst/>
          </a:prstGeom>
          <a:noFill/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" name="Google Shape;137;p18"/>
          <p:cNvSpPr/>
          <p:nvPr/>
        </p:nvSpPr>
        <p:spPr>
          <a:xfrm>
            <a:off x="240036" y="123444"/>
            <a:ext cx="4252073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1700"/>
              <a:buFont typeface="Noto Sans"/>
              <a:buNone/>
            </a:pPr>
            <a:r>
              <a:rPr b="1" i="0" lang="ko" sz="17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문제 정의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240036" y="336042"/>
            <a:ext cx="5760874" cy="1028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D83"/>
              </a:buClr>
              <a:buSzPts val="600"/>
              <a:buFont typeface="Noto Sans"/>
              <a:buNone/>
            </a:pPr>
            <a:r>
              <a:rPr b="0" i="0" lang="ko" sz="600" u="none" cap="none" strike="noStrike">
                <a:solidFill>
                  <a:srgbClr val="7A7D83"/>
                </a:solidFill>
                <a:latin typeface="Noto Sans"/>
                <a:ea typeface="Noto Sans"/>
                <a:cs typeface="Noto Sans"/>
                <a:sym typeface="Noto Sans"/>
              </a:rPr>
              <a:t>예측 대상 · 기간 · 지표를 먼저 고정하고 출발</a:t>
            </a:r>
            <a:endParaRPr b="0" i="0" sz="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7612583" y="109728"/>
            <a:ext cx="1063018" cy="164592"/>
          </a:xfrm>
          <a:prstGeom prst="rect">
            <a:avLst/>
          </a:prstGeom>
          <a:solidFill>
            <a:srgbClr val="A61F1F"/>
          </a:solidFill>
          <a:ln cap="flat" cmpd="sng" w="12700">
            <a:solidFill>
              <a:srgbClr val="A6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7612583" y="116586"/>
            <a:ext cx="1063018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Noto Sans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Part 1 · 문제 정의</a:t>
            </a:r>
            <a:endParaRPr b="0" i="0" sz="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445782" y="857250"/>
            <a:ext cx="1645964" cy="78867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480073" y="980694"/>
            <a:ext cx="1577382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1F1F"/>
              </a:buClr>
              <a:buSzPts val="1700"/>
              <a:buFont typeface="Noto Sans"/>
              <a:buNone/>
            </a:pPr>
            <a:r>
              <a:rPr b="1" i="0" lang="ko" sz="1700" u="none" cap="none" strike="noStrike">
                <a:solidFill>
                  <a:srgbClr val="A61F1F"/>
                </a:solidFill>
                <a:latin typeface="Noto Sans"/>
                <a:ea typeface="Noto Sans"/>
                <a:cs typeface="Noto Sans"/>
                <a:sym typeface="Noto Sans"/>
              </a:rPr>
              <a:t>15,890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514364" y="1323594"/>
            <a:ext cx="150880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168"/>
              </a:buClr>
              <a:buSzPts val="800"/>
              <a:buFont typeface="Noto Sans"/>
              <a:buNone/>
            </a:pPr>
            <a:r>
              <a:rPr b="0" i="0" lang="ko" sz="800" u="none" cap="none" strike="noStrike">
                <a:solidFill>
                  <a:srgbClr val="5F6168"/>
                </a:solidFill>
                <a:latin typeface="Noto Sans"/>
                <a:ea typeface="Noto Sans"/>
                <a:cs typeface="Noto Sans"/>
                <a:sym typeface="Noto Sans"/>
              </a:rPr>
              <a:t>예측 대상 제품 수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2249484" y="857250"/>
            <a:ext cx="1645964" cy="78867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2283775" y="980694"/>
            <a:ext cx="1577382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1F1F"/>
              </a:buClr>
              <a:buSzPts val="1700"/>
              <a:buFont typeface="Noto Sans"/>
              <a:buNone/>
            </a:pPr>
            <a:r>
              <a:rPr b="1" i="0" lang="ko" sz="1700" u="none" cap="none" strike="noStrike">
                <a:solidFill>
                  <a:srgbClr val="A61F1F"/>
                </a:solidFill>
                <a:latin typeface="Noto Sans"/>
                <a:ea typeface="Noto Sans"/>
                <a:cs typeface="Noto Sans"/>
                <a:sym typeface="Noto Sans"/>
              </a:rPr>
              <a:t>21일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2318066" y="1323594"/>
            <a:ext cx="150880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168"/>
              </a:buClr>
              <a:buSzPts val="800"/>
              <a:buFont typeface="Noto Sans"/>
              <a:buNone/>
            </a:pPr>
            <a:r>
              <a:rPr b="0" i="0" lang="ko" sz="800" u="none" cap="none" strike="noStrike">
                <a:solidFill>
                  <a:srgbClr val="5F6168"/>
                </a:solidFill>
                <a:latin typeface="Noto Sans"/>
                <a:ea typeface="Noto Sans"/>
                <a:cs typeface="Noto Sans"/>
                <a:sym typeface="Noto Sans"/>
              </a:rPr>
              <a:t>예측 기간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4053186" y="857250"/>
            <a:ext cx="1645964" cy="78867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4087477" y="980694"/>
            <a:ext cx="1577382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1F1F"/>
              </a:buClr>
              <a:buSzPts val="1700"/>
              <a:buFont typeface="Noto Sans"/>
              <a:buNone/>
            </a:pPr>
            <a:r>
              <a:rPr b="1" i="0" lang="ko" sz="1700" u="none" cap="none" strike="noStrike">
                <a:solidFill>
                  <a:srgbClr val="A61F1F"/>
                </a:solidFill>
                <a:latin typeface="Noto Sans"/>
                <a:ea typeface="Noto Sans"/>
                <a:cs typeface="Noto Sans"/>
                <a:sym typeface="Noto Sans"/>
              </a:rPr>
              <a:t>459일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4121768" y="1323594"/>
            <a:ext cx="150880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168"/>
              </a:buClr>
              <a:buSzPts val="800"/>
              <a:buFont typeface="Noto Sans"/>
              <a:buNone/>
            </a:pPr>
            <a:r>
              <a:rPr b="0" i="0" lang="ko" sz="800" u="none" cap="none" strike="noStrike">
                <a:solidFill>
                  <a:srgbClr val="5F6168"/>
                </a:solidFill>
                <a:latin typeface="Noto Sans"/>
                <a:ea typeface="Noto Sans"/>
                <a:cs typeface="Noto Sans"/>
                <a:sym typeface="Noto Sans"/>
              </a:rPr>
              <a:t>학습 데이터 기간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5863746" y="809244"/>
            <a:ext cx="2777564" cy="836676"/>
          </a:xfrm>
          <a:prstGeom prst="roundRect">
            <a:avLst>
              <a:gd fmla="val 6557" name="adj"/>
            </a:avLst>
          </a:prstGeom>
          <a:solidFill>
            <a:srgbClr val="F8ECE8"/>
          </a:solidFill>
          <a:ln cap="flat" cmpd="sng" w="12700">
            <a:solidFill>
              <a:srgbClr val="E6C9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5948017" y="857250"/>
            <a:ext cx="1717471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1F1F"/>
              </a:buClr>
              <a:buSzPts val="800"/>
              <a:buFont typeface="Noto Sans"/>
              <a:buNone/>
            </a:pPr>
            <a:r>
              <a:rPr b="1" i="0" lang="ko" sz="1400" u="none" cap="none" strike="noStrike">
                <a:solidFill>
                  <a:srgbClr val="A61F1F"/>
                </a:solidFill>
                <a:latin typeface="Noto Sans"/>
                <a:ea typeface="Noto Sans"/>
                <a:cs typeface="Noto Sans"/>
                <a:sym typeface="Noto Sans"/>
              </a:rPr>
              <a:t>평가 지표 : PSFA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6089925" y="1100738"/>
            <a:ext cx="2325212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* 대회 제출 기준      * 높을수록 좋음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5925477" y="1296206"/>
            <a:ext cx="2573844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168"/>
              </a:buClr>
              <a:buSzPts val="700"/>
              <a:buFont typeface="Noto Sans"/>
              <a:buNone/>
            </a:pPr>
            <a:r>
              <a:rPr b="0" i="0" lang="ko" sz="700" u="none" cap="none" strike="noStrike">
                <a:solidFill>
                  <a:srgbClr val="5F6168"/>
                </a:solidFill>
                <a:latin typeface="Noto Sans"/>
                <a:ea typeface="Noto Sans"/>
                <a:cs typeface="Noto Sans"/>
                <a:sym typeface="Noto Sans"/>
              </a:rPr>
              <a:t>→ 로컬 지표(RMSE)와 결론이 달라질 수 있어서</a:t>
            </a:r>
            <a:r>
              <a:rPr b="0" i="0" lang="ko" sz="7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168"/>
              </a:buClr>
              <a:buSzPts val="700"/>
              <a:buFont typeface="Noto Sans"/>
              <a:buNone/>
            </a:pPr>
            <a:r>
              <a:rPr b="0" i="0" lang="ko" sz="700" u="none" cap="none" strike="noStrike">
                <a:solidFill>
                  <a:srgbClr val="5F6168"/>
                </a:solidFill>
                <a:latin typeface="Noto Sans"/>
                <a:ea typeface="Noto Sans"/>
                <a:cs typeface="Noto Sans"/>
                <a:sym typeface="Noto Sans"/>
              </a:rPr>
              <a:t>     초기 판단 기준을 끝까지 점검해야 함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445782" y="2057400"/>
            <a:ext cx="8195528" cy="1508760"/>
          </a:xfrm>
          <a:prstGeom prst="roundRect">
            <a:avLst>
              <a:gd fmla="val 3636" name="adj"/>
            </a:avLst>
          </a:prstGeom>
          <a:solidFill>
            <a:srgbClr val="FFFFFF"/>
          </a:solidFill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582946" y="2208276"/>
            <a:ext cx="1371637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800"/>
              <a:buFont typeface="Noto Sans"/>
              <a:buNone/>
            </a:pPr>
            <a:r>
              <a:rPr b="1" i="0" lang="ko" sz="8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학습/검증/제출 타임라인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56" name="Google Shape;156;p18"/>
          <p:cNvCxnSpPr/>
          <p:nvPr/>
        </p:nvCxnSpPr>
        <p:spPr>
          <a:xfrm>
            <a:off x="685818" y="2914650"/>
            <a:ext cx="7441128" cy="0"/>
          </a:xfrm>
          <a:prstGeom prst="straightConnector1">
            <a:avLst/>
          </a:prstGeom>
          <a:noFill/>
          <a:ln cap="flat" cmpd="sng" w="12700">
            <a:solidFill>
              <a:srgbClr val="A61F1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18"/>
          <p:cNvSpPr/>
          <p:nvPr/>
        </p:nvSpPr>
        <p:spPr>
          <a:xfrm>
            <a:off x="637811" y="2866644"/>
            <a:ext cx="96015" cy="96012"/>
          </a:xfrm>
          <a:prstGeom prst="ellipse">
            <a:avLst/>
          </a:prstGeom>
          <a:solidFill>
            <a:srgbClr val="A61F1F"/>
          </a:solidFill>
          <a:ln cap="flat" cmpd="sng" w="12700">
            <a:solidFill>
              <a:srgbClr val="A6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3381084" y="2866644"/>
            <a:ext cx="96015" cy="96012"/>
          </a:xfrm>
          <a:prstGeom prst="ellipse">
            <a:avLst/>
          </a:prstGeom>
          <a:solidFill>
            <a:srgbClr val="A61F1F"/>
          </a:solidFill>
          <a:ln cap="flat" cmpd="sng" w="12700">
            <a:solidFill>
              <a:srgbClr val="A6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5438539" y="2866644"/>
            <a:ext cx="96015" cy="96012"/>
          </a:xfrm>
          <a:prstGeom prst="ellipse">
            <a:avLst/>
          </a:prstGeom>
          <a:solidFill>
            <a:srgbClr val="A61F1F"/>
          </a:solidFill>
          <a:ln cap="flat" cmpd="sng" w="12700">
            <a:solidFill>
              <a:srgbClr val="A6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8078939" y="2866644"/>
            <a:ext cx="96015" cy="96012"/>
          </a:xfrm>
          <a:prstGeom prst="ellipse">
            <a:avLst/>
          </a:prstGeom>
          <a:solidFill>
            <a:srgbClr val="A61F1F"/>
          </a:solidFill>
          <a:ln cap="flat" cmpd="sng" w="12700">
            <a:solidFill>
              <a:srgbClr val="A6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685818" y="2592324"/>
            <a:ext cx="2743273" cy="109728"/>
          </a:xfrm>
          <a:prstGeom prst="rect">
            <a:avLst/>
          </a:prstGeom>
          <a:solidFill>
            <a:srgbClr val="E9D1D1"/>
          </a:solidFill>
          <a:ln cap="flat" cmpd="sng" w="12700">
            <a:solidFill>
              <a:srgbClr val="E9D1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3429091" y="2592324"/>
            <a:ext cx="2057455" cy="109728"/>
          </a:xfrm>
          <a:prstGeom prst="rect">
            <a:avLst/>
          </a:prstGeom>
          <a:solidFill>
            <a:srgbClr val="F3E6E6"/>
          </a:solidFill>
          <a:ln cap="flat" cmpd="sng" w="12700">
            <a:solidFill>
              <a:srgbClr val="F3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5486546" y="2592324"/>
            <a:ext cx="2640400" cy="109728"/>
          </a:xfrm>
          <a:prstGeom prst="rect">
            <a:avLst/>
          </a:prstGeom>
          <a:solidFill>
            <a:srgbClr val="E9D1D1"/>
          </a:solidFill>
          <a:ln cap="flat" cmpd="sng" w="12700">
            <a:solidFill>
              <a:srgbClr val="E9D1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1543091" y="2434590"/>
            <a:ext cx="1097309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1F1F"/>
              </a:buClr>
              <a:buSzPts val="700"/>
              <a:buFont typeface="Noto Sans"/>
              <a:buNone/>
            </a:pPr>
            <a:r>
              <a:rPr b="0" i="0" lang="ko" sz="700" u="none" cap="none" strike="noStrike">
                <a:solidFill>
                  <a:srgbClr val="A61F1F"/>
                </a:solidFill>
                <a:latin typeface="Noto Sans"/>
                <a:ea typeface="Noto Sans"/>
                <a:cs typeface="Noto Sans"/>
                <a:sym typeface="Noto Sans"/>
              </a:rPr>
              <a:t>Train (438일)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4114910" y="2434590"/>
            <a:ext cx="685818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1F1F"/>
              </a:buClr>
              <a:buSzPts val="700"/>
              <a:buFont typeface="Noto Sans"/>
              <a:buNone/>
            </a:pPr>
            <a:r>
              <a:rPr b="0" i="0" lang="ko" sz="700" u="none" cap="none" strike="noStrike">
                <a:solidFill>
                  <a:srgbClr val="A61F1F"/>
                </a:solidFill>
                <a:latin typeface="Noto Sans"/>
                <a:ea typeface="Noto Sans"/>
                <a:cs typeface="Noto Sans"/>
                <a:sym typeface="Noto Sans"/>
              </a:rPr>
              <a:t>Val (21일)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6378110" y="2434590"/>
            <a:ext cx="1097309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1F1F"/>
              </a:buClr>
              <a:buSzPts val="700"/>
              <a:buFont typeface="Noto Sans"/>
              <a:buNone/>
            </a:pPr>
            <a:r>
              <a:rPr b="0" i="0" lang="ko" sz="700" u="none" cap="none" strike="noStrike">
                <a:solidFill>
                  <a:srgbClr val="A61F1F"/>
                </a:solidFill>
                <a:latin typeface="Noto Sans"/>
                <a:ea typeface="Noto Sans"/>
                <a:cs typeface="Noto Sans"/>
                <a:sym typeface="Noto Sans"/>
              </a:rPr>
              <a:t>Test / 제출 (21일)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363474" y="3051806"/>
            <a:ext cx="756920" cy="82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600"/>
              <a:buFont typeface="Noto Sans"/>
              <a:buNone/>
            </a:pPr>
            <a:r>
              <a:rPr b="0" i="0" lang="ko" sz="6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2022-01-01</a:t>
            </a:r>
            <a:endParaRPr b="0" i="0" sz="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363484" y="3154680"/>
            <a:ext cx="411491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B91"/>
              </a:buClr>
              <a:buSzPts val="500"/>
              <a:buFont typeface="Noto Sans"/>
              <a:buNone/>
            </a:pPr>
            <a:r>
              <a:rPr b="0" i="0" lang="ko" sz="500" u="none" cap="none" strike="noStrike">
                <a:solidFill>
                  <a:srgbClr val="888B91"/>
                </a:solidFill>
                <a:latin typeface="Noto Sans"/>
                <a:ea typeface="Noto Sans"/>
                <a:cs typeface="Noto Sans"/>
                <a:sym typeface="Noto Sans"/>
              </a:rPr>
              <a:t>Train 시작</a:t>
            </a:r>
            <a:endParaRPr b="0" i="0" sz="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3106748" y="3051807"/>
            <a:ext cx="685818" cy="82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600"/>
              <a:buFont typeface="Noto Sans"/>
              <a:buNone/>
            </a:pPr>
            <a:r>
              <a:rPr b="0" i="0" lang="ko" sz="6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2023-03-14</a:t>
            </a:r>
            <a:endParaRPr b="0" i="0" sz="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3106757" y="3154680"/>
            <a:ext cx="411491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B91"/>
              </a:buClr>
              <a:buSzPts val="500"/>
              <a:buFont typeface="Noto Sans"/>
              <a:buNone/>
            </a:pPr>
            <a:r>
              <a:rPr b="0" i="0" lang="ko" sz="500" u="none" cap="none" strike="noStrike">
                <a:solidFill>
                  <a:srgbClr val="888B91"/>
                </a:solidFill>
                <a:latin typeface="Noto Sans"/>
                <a:ea typeface="Noto Sans"/>
                <a:cs typeface="Noto Sans"/>
                <a:sym typeface="Noto Sans"/>
              </a:rPr>
              <a:t>Train 종료</a:t>
            </a:r>
            <a:endParaRPr b="0" i="0" sz="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5164203" y="3051806"/>
            <a:ext cx="617191" cy="82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600"/>
              <a:buFont typeface="Noto Sans"/>
              <a:buNone/>
            </a:pPr>
            <a:r>
              <a:rPr b="0" i="0" lang="ko" sz="6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2023-04-04</a:t>
            </a:r>
            <a:endParaRPr b="0" i="0" sz="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5164212" y="3154680"/>
            <a:ext cx="411491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B91"/>
              </a:buClr>
              <a:buSzPts val="500"/>
              <a:buFont typeface="Noto Sans"/>
              <a:buNone/>
            </a:pPr>
            <a:r>
              <a:rPr b="0" i="0" lang="ko" sz="500" u="none" cap="none" strike="noStrike">
                <a:solidFill>
                  <a:srgbClr val="888B91"/>
                </a:solidFill>
                <a:latin typeface="Noto Sans"/>
                <a:ea typeface="Noto Sans"/>
                <a:cs typeface="Noto Sans"/>
                <a:sym typeface="Noto Sans"/>
              </a:rPr>
              <a:t>Val 종료</a:t>
            </a:r>
            <a:endParaRPr b="0" i="0" sz="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7681158" y="3051807"/>
            <a:ext cx="756920" cy="82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600"/>
              <a:buFont typeface="Noto Sans"/>
              <a:buNone/>
            </a:pPr>
            <a:r>
              <a:rPr b="0" i="0" lang="ko" sz="6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2023-04-25</a:t>
            </a:r>
            <a:endParaRPr b="0" i="0" sz="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7681165" y="3154680"/>
            <a:ext cx="411491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B91"/>
              </a:buClr>
              <a:buSzPts val="500"/>
              <a:buFont typeface="Noto Sans"/>
              <a:buNone/>
            </a:pPr>
            <a:r>
              <a:rPr b="0" i="0" lang="ko" sz="500" u="none" cap="none" strike="noStrike">
                <a:solidFill>
                  <a:srgbClr val="888B91"/>
                </a:solidFill>
                <a:latin typeface="Noto Sans"/>
                <a:ea typeface="Noto Sans"/>
                <a:cs typeface="Noto Sans"/>
                <a:sym typeface="Noto Sans"/>
              </a:rPr>
              <a:t>예측 종료</a:t>
            </a:r>
            <a:endParaRPr b="0" i="0" sz="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F7F5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1" name="Google Shape;181;p19"/>
          <p:cNvCxnSpPr/>
          <p:nvPr/>
        </p:nvCxnSpPr>
        <p:spPr>
          <a:xfrm>
            <a:off x="240036" y="377190"/>
            <a:ext cx="8641310" cy="0"/>
          </a:xfrm>
          <a:prstGeom prst="straightConnector1">
            <a:avLst/>
          </a:prstGeom>
          <a:noFill/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" name="Google Shape;182;p19"/>
          <p:cNvSpPr/>
          <p:nvPr/>
        </p:nvSpPr>
        <p:spPr>
          <a:xfrm>
            <a:off x="240036" y="123444"/>
            <a:ext cx="4252073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1700"/>
              <a:buFont typeface="Noto Sans"/>
              <a:buNone/>
            </a:pPr>
            <a:r>
              <a:rPr b="1" i="0" lang="ko" sz="17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데이터 구조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240036" y="336042"/>
            <a:ext cx="5760874" cy="1028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D83"/>
              </a:buClr>
              <a:buSzPts val="600"/>
              <a:buFont typeface="Noto Sans"/>
              <a:buNone/>
            </a:pPr>
            <a:r>
              <a:rPr b="0" i="0" lang="ko" sz="600" u="none" cap="none" strike="noStrike">
                <a:solidFill>
                  <a:srgbClr val="7A7D83"/>
                </a:solidFill>
                <a:latin typeface="Noto Sans"/>
                <a:ea typeface="Noto Sans"/>
                <a:cs typeface="Noto Sans"/>
                <a:sym typeface="Noto Sans"/>
              </a:rPr>
              <a:t>핵심 파일 4개를 기준으로 분석과 피처 설계를 진행</a:t>
            </a:r>
            <a:endParaRPr b="0" i="0" sz="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7612583" y="109728"/>
            <a:ext cx="1063018" cy="164592"/>
          </a:xfrm>
          <a:prstGeom prst="rect">
            <a:avLst/>
          </a:prstGeom>
          <a:solidFill>
            <a:srgbClr val="A61F1F"/>
          </a:solidFill>
          <a:ln cap="flat" cmpd="sng" w="12700">
            <a:solidFill>
              <a:srgbClr val="A6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7612583" y="116586"/>
            <a:ext cx="1063018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Noto Sans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Part 1 · 데이터</a:t>
            </a:r>
            <a:endParaRPr b="0" i="0" sz="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514364" y="754380"/>
            <a:ext cx="8092656" cy="65151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514364" y="754380"/>
            <a:ext cx="54865" cy="651510"/>
          </a:xfrm>
          <a:prstGeom prst="rect">
            <a:avLst/>
          </a:prstGeom>
          <a:solidFill>
            <a:srgbClr val="A61F1F"/>
          </a:solidFill>
          <a:ln cap="flat" cmpd="sng" w="12700">
            <a:solidFill>
              <a:srgbClr val="A6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665244" y="905256"/>
            <a:ext cx="150880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1000"/>
              <a:buFont typeface="Noto Sans"/>
              <a:buNone/>
            </a:pPr>
            <a:r>
              <a:rPr b="1" i="0" lang="ko" sz="10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train.csv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2708982" y="905256"/>
            <a:ext cx="164596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1F1F"/>
              </a:buClr>
              <a:buSzPts val="1000"/>
              <a:buFont typeface="Noto Sans"/>
              <a:buNone/>
            </a:pPr>
            <a:r>
              <a:rPr b="1" i="0" lang="ko" sz="1000" u="none" cap="none" strike="noStrike">
                <a:solidFill>
                  <a:srgbClr val="A61F1F"/>
                </a:solidFill>
                <a:latin typeface="Noto Sans"/>
                <a:ea typeface="Noto Sans"/>
                <a:cs typeface="Noto Sans"/>
                <a:sym typeface="Noto Sans"/>
              </a:rPr>
              <a:t>15,890 × 465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665244" y="1110996"/>
            <a:ext cx="3429091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168"/>
              </a:buClr>
              <a:buSzPts val="800"/>
              <a:buFont typeface="Noto Sans"/>
              <a:buNone/>
            </a:pPr>
            <a:r>
              <a:rPr b="0" i="0" lang="ko" sz="800" u="none" cap="none" strike="noStrike">
                <a:solidFill>
                  <a:srgbClr val="5F6168"/>
                </a:solidFill>
                <a:latin typeface="Noto Sans"/>
                <a:ea typeface="Noto Sans"/>
                <a:cs typeface="Noto Sans"/>
                <a:sym typeface="Noto Sans"/>
              </a:rPr>
              <a:t>제품별 일별 판매량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514364" y="1522476"/>
            <a:ext cx="8092656" cy="65151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514364" y="1522476"/>
            <a:ext cx="54865" cy="651510"/>
          </a:xfrm>
          <a:prstGeom prst="rect">
            <a:avLst/>
          </a:prstGeom>
          <a:solidFill>
            <a:srgbClr val="A61F1F"/>
          </a:solidFill>
          <a:ln cap="flat" cmpd="sng" w="12700">
            <a:solidFill>
              <a:srgbClr val="A6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665244" y="1673352"/>
            <a:ext cx="150880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1000"/>
              <a:buFont typeface="Noto Sans"/>
              <a:buNone/>
            </a:pPr>
            <a:r>
              <a:rPr b="1" i="0" lang="ko" sz="10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sales.csv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2708982" y="1673352"/>
            <a:ext cx="164596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1F1F"/>
              </a:buClr>
              <a:buSzPts val="1000"/>
              <a:buFont typeface="Noto Sans"/>
              <a:buNone/>
            </a:pPr>
            <a:r>
              <a:rPr b="1" i="0" lang="ko" sz="1000" u="none" cap="none" strike="noStrike">
                <a:solidFill>
                  <a:srgbClr val="A61F1F"/>
                </a:solidFill>
                <a:latin typeface="Noto Sans"/>
                <a:ea typeface="Noto Sans"/>
                <a:cs typeface="Noto Sans"/>
                <a:sym typeface="Noto Sans"/>
              </a:rPr>
              <a:t>15,890 × 465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665244" y="1879092"/>
            <a:ext cx="3429091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168"/>
              </a:buClr>
              <a:buSzPts val="800"/>
              <a:buFont typeface="Noto Sans"/>
              <a:buNone/>
            </a:pPr>
            <a:r>
              <a:rPr b="0" i="0" lang="ko" sz="800" u="none" cap="none" strike="noStrike">
                <a:solidFill>
                  <a:srgbClr val="5F6168"/>
                </a:solidFill>
                <a:latin typeface="Noto Sans"/>
                <a:ea typeface="Noto Sans"/>
                <a:cs typeface="Noto Sans"/>
                <a:sym typeface="Noto Sans"/>
              </a:rPr>
              <a:t>제품별 일별 매출액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514364" y="2290572"/>
            <a:ext cx="8092656" cy="65151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514364" y="2290572"/>
            <a:ext cx="54865" cy="651510"/>
          </a:xfrm>
          <a:prstGeom prst="rect">
            <a:avLst/>
          </a:prstGeom>
          <a:solidFill>
            <a:srgbClr val="A61F1F"/>
          </a:solidFill>
          <a:ln cap="flat" cmpd="sng" w="12700">
            <a:solidFill>
              <a:srgbClr val="A6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665244" y="2441448"/>
            <a:ext cx="150880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1000"/>
              <a:buFont typeface="Noto Sans"/>
              <a:buNone/>
            </a:pPr>
            <a:r>
              <a:rPr b="1" i="0" lang="ko" sz="10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keyword.csv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2708982" y="2441448"/>
            <a:ext cx="164596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1F1F"/>
              </a:buClr>
              <a:buSzPts val="1000"/>
              <a:buFont typeface="Noto Sans"/>
              <a:buNone/>
            </a:pPr>
            <a:r>
              <a:rPr b="1" i="0" lang="ko" sz="1000" u="none" cap="none" strike="noStrike">
                <a:solidFill>
                  <a:srgbClr val="A61F1F"/>
                </a:solidFill>
                <a:latin typeface="Noto Sans"/>
                <a:ea typeface="Noto Sans"/>
                <a:cs typeface="Noto Sans"/>
                <a:sym typeface="Noto Sans"/>
              </a:rPr>
              <a:t>3,170 × 460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665244" y="2647188"/>
            <a:ext cx="3429091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168"/>
              </a:buClr>
              <a:buSzPts val="800"/>
              <a:buFont typeface="Noto Sans"/>
              <a:buNone/>
            </a:pPr>
            <a:r>
              <a:rPr b="0" i="0" lang="ko" sz="800" u="none" cap="none" strike="noStrike">
                <a:solidFill>
                  <a:srgbClr val="5F6168"/>
                </a:solidFill>
                <a:latin typeface="Noto Sans"/>
                <a:ea typeface="Noto Sans"/>
                <a:cs typeface="Noto Sans"/>
                <a:sym typeface="Noto Sans"/>
              </a:rPr>
              <a:t>브랜드별 검색량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514364" y="3058668"/>
            <a:ext cx="8092800" cy="65160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514364" y="3058668"/>
            <a:ext cx="54865" cy="651510"/>
          </a:xfrm>
          <a:prstGeom prst="rect">
            <a:avLst/>
          </a:prstGeom>
          <a:solidFill>
            <a:srgbClr val="A61F1F"/>
          </a:solidFill>
          <a:ln cap="flat" cmpd="sng" w="12700">
            <a:solidFill>
              <a:srgbClr val="A6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665244" y="3209544"/>
            <a:ext cx="150880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1000"/>
              <a:buFont typeface="Noto Sans"/>
              <a:buNone/>
            </a:pPr>
            <a:r>
              <a:rPr b="1" i="0" lang="ko" sz="10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product_info.csv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2708982" y="3209544"/>
            <a:ext cx="164596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1F1F"/>
              </a:buClr>
              <a:buSzPts val="1000"/>
              <a:buFont typeface="Noto Sans"/>
              <a:buNone/>
            </a:pPr>
            <a:r>
              <a:rPr b="1" i="0" lang="ko" sz="1000" u="none" cap="none" strike="noStrike">
                <a:solidFill>
                  <a:srgbClr val="A61F1F"/>
                </a:solidFill>
                <a:latin typeface="Noto Sans"/>
                <a:ea typeface="Noto Sans"/>
                <a:cs typeface="Noto Sans"/>
                <a:sym typeface="Noto Sans"/>
              </a:rPr>
              <a:t>12,778 × 2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665244" y="3415284"/>
            <a:ext cx="3429091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168"/>
              </a:buClr>
              <a:buSzPts val="800"/>
              <a:buFont typeface="Noto Sans"/>
              <a:buNone/>
            </a:pPr>
            <a:r>
              <a:rPr b="0" i="0" lang="ko" sz="800" u="none" cap="none" strike="noStrike">
                <a:solidFill>
                  <a:srgbClr val="5F6168"/>
                </a:solidFill>
                <a:latin typeface="Noto Sans"/>
                <a:ea typeface="Noto Sans"/>
                <a:cs typeface="Noto Sans"/>
                <a:sym typeface="Noto Sans"/>
              </a:rPr>
              <a:t>제품 특성 텍스트 (최종 반영은 제한적)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651527" y="4080510"/>
            <a:ext cx="7804612" cy="445770"/>
          </a:xfrm>
          <a:prstGeom prst="roundRect">
            <a:avLst>
              <a:gd fmla="val 12308" name="adj"/>
            </a:avLst>
          </a:prstGeom>
          <a:solidFill>
            <a:srgbClr val="F1EEEB"/>
          </a:solidFill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788691" y="4217670"/>
            <a:ext cx="7475419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800"/>
              <a:buFont typeface="Noto Sans"/>
              <a:buNone/>
            </a:pPr>
            <a:r>
              <a:rPr b="1" i="0" lang="ko" sz="8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핵심 포인트  |  product_info</a:t>
            </a:r>
            <a:r>
              <a:rPr b="1" lang="ko" sz="800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의 데이터 확인은</a:t>
            </a:r>
            <a:r>
              <a:rPr b="1" i="0" lang="ko" sz="8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 했지만, 매칭률과 일관성 문제로 최종 모델</a:t>
            </a:r>
            <a:r>
              <a:rPr b="1" lang="ko" sz="800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에 사용하지는 않았음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208" name="Google Shape;2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3975" y="1473962"/>
            <a:ext cx="5067574" cy="754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3975" y="2259763"/>
            <a:ext cx="5067574" cy="71312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0" name="Google Shape;21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23975" y="3033975"/>
            <a:ext cx="3503219" cy="9452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1" name="Google Shape;21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23975" y="605849"/>
            <a:ext cx="5067574" cy="82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0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F7F5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" name="Google Shape;218;p20"/>
          <p:cNvCxnSpPr/>
          <p:nvPr/>
        </p:nvCxnSpPr>
        <p:spPr>
          <a:xfrm>
            <a:off x="240036" y="377190"/>
            <a:ext cx="8641310" cy="0"/>
          </a:xfrm>
          <a:prstGeom prst="straightConnector1">
            <a:avLst/>
          </a:prstGeom>
          <a:noFill/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9" name="Google Shape;219;p20"/>
          <p:cNvSpPr/>
          <p:nvPr/>
        </p:nvSpPr>
        <p:spPr>
          <a:xfrm>
            <a:off x="240036" y="123444"/>
            <a:ext cx="4252073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1700"/>
              <a:buFont typeface="Noto Sans"/>
              <a:buNone/>
            </a:pPr>
            <a:r>
              <a:rPr b="1" i="0" lang="ko" sz="17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EDA 핵심 1 — 전체 판매 트렌드와 급락 구간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240036" y="336042"/>
            <a:ext cx="5760874" cy="1028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D83"/>
              </a:buClr>
              <a:buSzPts val="600"/>
              <a:buFont typeface="Noto Sans"/>
              <a:buNone/>
            </a:pPr>
            <a:r>
              <a:rPr b="0" i="0" lang="ko" sz="600" u="none" cap="none" strike="noStrike">
                <a:solidFill>
                  <a:srgbClr val="7A7D83"/>
                </a:solidFill>
                <a:latin typeface="Noto Sans"/>
                <a:ea typeface="Noto Sans"/>
                <a:cs typeface="Noto Sans"/>
                <a:sym typeface="Noto Sans"/>
              </a:rPr>
              <a:t>2023년 2월 말 이후 비정상 급락 구간 확인</a:t>
            </a:r>
            <a:endParaRPr b="0" i="0" sz="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7612583" y="109728"/>
            <a:ext cx="1063018" cy="164592"/>
          </a:xfrm>
          <a:prstGeom prst="rect">
            <a:avLst/>
          </a:prstGeom>
          <a:solidFill>
            <a:srgbClr val="A61F1F"/>
          </a:solidFill>
          <a:ln cap="flat" cmpd="sng" w="12700">
            <a:solidFill>
              <a:srgbClr val="A6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7612583" y="116586"/>
            <a:ext cx="1063018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Noto Sans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Part 1 · EDA 1/3</a:t>
            </a:r>
            <a:endParaRPr b="0" i="0" sz="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514364" y="768096"/>
            <a:ext cx="5280801" cy="3120390"/>
          </a:xfrm>
          <a:prstGeom prst="roundRect">
            <a:avLst>
              <a:gd fmla="val 1758" name="adj"/>
            </a:avLst>
          </a:prstGeom>
          <a:solidFill>
            <a:srgbClr val="FFFFFF"/>
          </a:solidFill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pt_assets/crash_zoom.jpg" id="224" name="Google Shape;22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2102" y="722783"/>
            <a:ext cx="4972050" cy="2237194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/>
          <p:nvPr/>
        </p:nvSpPr>
        <p:spPr>
          <a:xfrm>
            <a:off x="5966619" y="822960"/>
            <a:ext cx="2709072" cy="3031200"/>
          </a:xfrm>
          <a:prstGeom prst="roundRect">
            <a:avLst>
              <a:gd fmla="val 2025" name="adj"/>
            </a:avLst>
          </a:prstGeom>
          <a:solidFill>
            <a:srgbClr val="FFFFFF"/>
          </a:solidFill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6069492" y="973836"/>
            <a:ext cx="2503237" cy="233172"/>
          </a:xfrm>
          <a:prstGeom prst="rect">
            <a:avLst/>
          </a:prstGeom>
          <a:solidFill>
            <a:srgbClr val="A61F1F"/>
          </a:solidFill>
          <a:ln cap="flat" cmpd="sng" w="12700">
            <a:solidFill>
              <a:srgbClr val="A6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6069492" y="987552"/>
            <a:ext cx="2503237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Noto Sans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highlight>
                  <a:srgbClr val="A61F1F"/>
                </a:highlight>
                <a:latin typeface="Noto Sans"/>
                <a:ea typeface="Noto Sans"/>
                <a:cs typeface="Noto Sans"/>
                <a:sym typeface="Noto Sans"/>
              </a:rPr>
              <a:t>핵심 해석</a:t>
            </a:r>
            <a:endParaRPr b="0" i="0" sz="600" u="none" cap="none" strike="noStrike">
              <a:solidFill>
                <a:schemeClr val="dk1"/>
              </a:solidFill>
              <a:highlight>
                <a:srgbClr val="A61F1F"/>
              </a:highlight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6186081" y="1405890"/>
            <a:ext cx="2249484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1200"/>
              <a:buFont typeface="Noto Sans"/>
              <a:buNone/>
            </a:pPr>
            <a:r>
              <a:rPr b="1" i="0" lang="ko" sz="12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판매량이 정상 범위 대비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1200"/>
              <a:buFont typeface="Noto Sans"/>
              <a:buNone/>
            </a:pPr>
            <a:r>
              <a:rPr b="1" i="0" lang="ko" sz="12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뚜렷하게 무너지는 구간이 존재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6206655" y="2091690"/>
            <a:ext cx="102873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1F1F"/>
              </a:buClr>
              <a:buSzPts val="900"/>
              <a:buFont typeface="Noto Sans"/>
              <a:buNone/>
            </a:pPr>
            <a:r>
              <a:rPr b="1" i="0" lang="ko" sz="900" u="none" cap="none" strike="noStrike">
                <a:solidFill>
                  <a:srgbClr val="A61F1F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6330103" y="2091690"/>
            <a:ext cx="2057455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800"/>
              <a:buFont typeface="Noto Sans"/>
              <a:buNone/>
            </a:pPr>
            <a:r>
              <a:rPr b="0" i="0" lang="ko" sz="8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단순 잡음보다 구조적 변화에 가까움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6206655" y="2581123"/>
            <a:ext cx="102828" cy="96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1F1F"/>
              </a:buClr>
              <a:buSzPts val="900"/>
              <a:buFont typeface="Noto Sans"/>
              <a:buNone/>
            </a:pPr>
            <a:r>
              <a:rPr b="1" i="0" lang="ko" sz="900" u="none" cap="none" strike="noStrike">
                <a:solidFill>
                  <a:srgbClr val="A61F1F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6330103" y="2581123"/>
            <a:ext cx="2057455" cy="12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800"/>
              <a:buFont typeface="Noto Sans"/>
              <a:buNone/>
            </a:pPr>
            <a:r>
              <a:rPr b="0" i="0" lang="ko" sz="8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이 구간을 그대로 학습시키면 </a:t>
            </a:r>
            <a:endParaRPr b="0" i="0" sz="800" u="none" cap="none" strike="noStrike">
              <a:solidFill>
                <a:srgbClr val="1B1C1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800"/>
              <a:buFont typeface="Noto Sans"/>
              <a:buNone/>
            </a:pPr>
            <a:r>
              <a:rPr b="0" i="0" lang="ko" sz="8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비정상 패턴도 함께 학습할 위험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6206655" y="3147778"/>
            <a:ext cx="102828" cy="96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1F1F"/>
              </a:buClr>
              <a:buSzPts val="900"/>
              <a:buFont typeface="Noto Sans"/>
              <a:buNone/>
            </a:pPr>
            <a:r>
              <a:rPr b="1" i="0" lang="ko" sz="900" u="none" cap="none" strike="noStrike">
                <a:solidFill>
                  <a:srgbClr val="A61F1F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6330103" y="3147778"/>
            <a:ext cx="2057455" cy="12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800"/>
              <a:buFont typeface="Noto Sans"/>
              <a:buNone/>
            </a:pPr>
            <a:r>
              <a:rPr b="0" i="0" lang="ko" sz="8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따라서 “어떻게 처리할 것인가”가 </a:t>
            </a:r>
            <a:endParaRPr b="0" i="0" sz="800" u="none" cap="none" strike="noStrike">
              <a:solidFill>
                <a:srgbClr val="1B1C1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800"/>
              <a:buFont typeface="Noto Sans"/>
              <a:buNone/>
            </a:pPr>
            <a:r>
              <a:rPr b="0" i="0" lang="ko" sz="8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모델 선택만큼 중요</a:t>
            </a:r>
            <a:endParaRPr sz="800">
              <a:solidFill>
                <a:srgbClr val="1B1C1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630953" y="4080510"/>
            <a:ext cx="7873194" cy="480060"/>
          </a:xfrm>
          <a:prstGeom prst="roundRect">
            <a:avLst>
              <a:gd fmla="val 11429" name="adj"/>
            </a:avLst>
          </a:prstGeom>
          <a:solidFill>
            <a:srgbClr val="F1EEEB"/>
          </a:solidFill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754400" y="4231386"/>
            <a:ext cx="7544001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800"/>
              <a:buFont typeface="Noto Sans"/>
              <a:buNone/>
            </a:pPr>
            <a:r>
              <a:rPr b="1" i="0" lang="ko" sz="8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이 구간은 “그대로 둔다 / 제거한다 / 보정한다 / 플래그로 알려준다” 중 무엇이 맞는지 비교 실험이 필요했다. (METHOD 1~5)</a:t>
            </a:r>
            <a:endParaRPr b="1" i="0" sz="800" u="none" cap="none" strike="noStrike">
              <a:solidFill>
                <a:srgbClr val="1B1C1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9442049" y="2571738"/>
            <a:ext cx="2250000" cy="19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" sz="800" u="none" cap="none" strike="noStrik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OUTLIER_METHOD = 1 → 급락 기간 날짜 컬럼 자체를 학습에서 제외  </a:t>
            </a:r>
            <a:endParaRPr b="0" i="0" sz="800" u="none" cap="none" strike="noStrik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" sz="800" u="none" cap="none" strike="noStrik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OUTLIER_METHOD = 2 → 합성 데이터 복원 (전년 동기 실제값 × 성장률 보정)  </a:t>
            </a:r>
            <a:endParaRPr b="0" i="0" sz="800" u="none" cap="none" strike="noStrik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" sz="800" u="none" cap="none" strike="noStrik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OUTLIER_METHOD = 3 → 이동평균 7일 + 요일별 보정으로 값 교체  </a:t>
            </a:r>
            <a:endParaRPr b="0" i="0" sz="800" u="none" cap="none" strike="noStrik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" sz="800" u="none" cap="none" strike="noStrik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OUTLIER_METHOD = 4 → 이동평균 30일 + 요일별 보정으로 값 교체  </a:t>
            </a:r>
            <a:endParaRPr b="0" i="0" sz="800" u="none" cap="none" strike="noStrik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ko" sz="800" u="none" cap="none" strike="noStrik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OUTLIER_METHOD = 5 → 원본 유지 + is_post_crash 플래그 생성 (모델이 직접 판단)</a:t>
            </a:r>
            <a:endParaRPr b="0" i="0" sz="800" u="none" cap="none" strike="noStrik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38" name="Google Shape;23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6000" y="2959975"/>
            <a:ext cx="4777374" cy="894175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F7F5F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1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F7F5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5" name="Google Shape;245;p21"/>
          <p:cNvCxnSpPr/>
          <p:nvPr/>
        </p:nvCxnSpPr>
        <p:spPr>
          <a:xfrm>
            <a:off x="240036" y="377190"/>
            <a:ext cx="8641310" cy="0"/>
          </a:xfrm>
          <a:prstGeom prst="straightConnector1">
            <a:avLst/>
          </a:prstGeom>
          <a:noFill/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6" name="Google Shape;246;p21"/>
          <p:cNvSpPr/>
          <p:nvPr/>
        </p:nvSpPr>
        <p:spPr>
          <a:xfrm>
            <a:off x="240036" y="123444"/>
            <a:ext cx="4252073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1700"/>
              <a:buFont typeface="Noto Sans"/>
              <a:buNone/>
            </a:pPr>
            <a:r>
              <a:rPr b="1" i="0" lang="ko" sz="17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EDA 핵심 2 — “0”의 두 종류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240036" y="336042"/>
            <a:ext cx="5760874" cy="1028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D83"/>
              </a:buClr>
              <a:buSzPts val="600"/>
              <a:buFont typeface="Noto Sans"/>
              <a:buNone/>
            </a:pPr>
            <a:r>
              <a:rPr b="0" i="0" lang="ko" sz="600" u="none" cap="none" strike="noStrike">
                <a:solidFill>
                  <a:srgbClr val="7A7D83"/>
                </a:solidFill>
                <a:latin typeface="Noto Sans"/>
                <a:ea typeface="Noto Sans"/>
                <a:cs typeface="Noto Sans"/>
                <a:sym typeface="Noto Sans"/>
              </a:rPr>
              <a:t>sparse 데이터에서 중요한 건 0의 개수보다 0의 의미 구분</a:t>
            </a:r>
            <a:endParaRPr b="0" i="0" sz="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7612583" y="109728"/>
            <a:ext cx="1063018" cy="164592"/>
          </a:xfrm>
          <a:prstGeom prst="rect">
            <a:avLst/>
          </a:prstGeom>
          <a:solidFill>
            <a:srgbClr val="A61F1F"/>
          </a:solidFill>
          <a:ln cap="flat" cmpd="sng" w="12700">
            <a:solidFill>
              <a:srgbClr val="A6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7612583" y="116586"/>
            <a:ext cx="1063018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Noto Sans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Part 1 · EDA 2/3</a:t>
            </a:r>
            <a:endParaRPr b="0" i="0" sz="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480073" y="809244"/>
            <a:ext cx="4114910" cy="3120390"/>
          </a:xfrm>
          <a:prstGeom prst="roundRect">
            <a:avLst>
              <a:gd fmla="val 1758" name="adj"/>
            </a:avLst>
          </a:prstGeom>
          <a:solidFill>
            <a:srgbClr val="FFFFFF"/>
          </a:solidFill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pt_assets/zero_ratio.jpg" id="251" name="Google Shape;25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1527" y="1150625"/>
            <a:ext cx="3771900" cy="2389623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1"/>
          <p:cNvSpPr/>
          <p:nvPr/>
        </p:nvSpPr>
        <p:spPr>
          <a:xfrm>
            <a:off x="4766437" y="809244"/>
            <a:ext cx="3874873" cy="3120390"/>
          </a:xfrm>
          <a:prstGeom prst="roundRect">
            <a:avLst>
              <a:gd fmla="val 1758" name="adj"/>
            </a:avLst>
          </a:prstGeom>
          <a:solidFill>
            <a:srgbClr val="FFFFFF"/>
          </a:solidFill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4903601" y="973836"/>
            <a:ext cx="1508800" cy="233172"/>
          </a:xfrm>
          <a:prstGeom prst="rect">
            <a:avLst/>
          </a:prstGeom>
          <a:solidFill>
            <a:srgbClr val="A61F1F"/>
          </a:solidFill>
          <a:ln cap="flat" cmpd="sng" w="12700">
            <a:solidFill>
              <a:srgbClr val="A6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4903601" y="987552"/>
            <a:ext cx="150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Noto Sans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0의 의미를 분리해서 보자</a:t>
            </a:r>
            <a:endParaRPr b="0" i="0" sz="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4972183" y="1371600"/>
            <a:ext cx="1474509" cy="308610"/>
          </a:xfrm>
          <a:prstGeom prst="roundRect">
            <a:avLst>
              <a:gd fmla="val 13333" name="adj"/>
            </a:avLst>
          </a:prstGeom>
          <a:solidFill>
            <a:srgbClr val="F0D8D4"/>
          </a:solidFill>
          <a:ln cap="flat" cmpd="sng" w="12700">
            <a:solidFill>
              <a:srgbClr val="F0D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6412401" y="1371600"/>
            <a:ext cx="822982" cy="308610"/>
          </a:xfrm>
          <a:prstGeom prst="roundRect">
            <a:avLst>
              <a:gd fmla="val 13333" name="adj"/>
            </a:avLst>
          </a:prstGeom>
          <a:solidFill>
            <a:srgbClr val="DDEAF8"/>
          </a:solidFill>
          <a:ln cap="flat" cmpd="sng" w="12700">
            <a:solidFill>
              <a:srgbClr val="DDE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7235383" y="1371600"/>
            <a:ext cx="1063018" cy="308610"/>
          </a:xfrm>
          <a:prstGeom prst="roundRect">
            <a:avLst>
              <a:gd fmla="val 13333" name="adj"/>
            </a:avLst>
          </a:prstGeom>
          <a:solidFill>
            <a:srgbClr val="F0D8D4"/>
          </a:solidFill>
          <a:ln cap="flat" cmpd="sng" w="12700">
            <a:solidFill>
              <a:srgbClr val="F0D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4972183" y="1467612"/>
            <a:ext cx="1474509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1F1F"/>
              </a:buClr>
              <a:buSzPts val="800"/>
              <a:buFont typeface="Noto Sans"/>
              <a:buNone/>
            </a:pPr>
            <a:r>
              <a:rPr b="1" i="0" lang="ko" sz="800" u="none" cap="none" strike="noStrike">
                <a:solidFill>
                  <a:srgbClr val="A61F1F"/>
                </a:solidFill>
                <a:latin typeface="Noto Sans"/>
                <a:ea typeface="Noto Sans"/>
                <a:cs typeface="Noto Sans"/>
                <a:sym typeface="Noto Sans"/>
              </a:rPr>
              <a:t>출시 전 0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6412401" y="1467612"/>
            <a:ext cx="822982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673"/>
              </a:buClr>
              <a:buSzPts val="800"/>
              <a:buFont typeface="Noto Sans"/>
              <a:buNone/>
            </a:pPr>
            <a:r>
              <a:rPr b="1" i="0" lang="ko" sz="800" u="none" cap="none" strike="noStrike">
                <a:solidFill>
                  <a:srgbClr val="2A5673"/>
                </a:solidFill>
                <a:latin typeface="Noto Sans"/>
                <a:ea typeface="Noto Sans"/>
                <a:cs typeface="Noto Sans"/>
                <a:sym typeface="Noto Sans"/>
              </a:rPr>
              <a:t>판매 구간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7235383" y="1467612"/>
            <a:ext cx="1063018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1F1F"/>
              </a:buClr>
              <a:buSzPts val="800"/>
              <a:buFont typeface="Noto Sans"/>
              <a:buNone/>
            </a:pPr>
            <a:r>
              <a:rPr b="1" i="0" lang="ko" sz="800" u="none" cap="none" strike="noStrike">
                <a:solidFill>
                  <a:srgbClr val="A61F1F"/>
                </a:solidFill>
                <a:latin typeface="Noto Sans"/>
                <a:ea typeface="Noto Sans"/>
                <a:cs typeface="Noto Sans"/>
                <a:sym typeface="Noto Sans"/>
              </a:rPr>
              <a:t>단종 후 0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4972183" y="2023110"/>
            <a:ext cx="102873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1F1F"/>
              </a:buClr>
              <a:buSzPts val="900"/>
              <a:buFont typeface="Noto Sans"/>
              <a:buNone/>
            </a:pPr>
            <a:r>
              <a:rPr b="1" i="0" lang="ko" sz="900" u="none" cap="none" strike="noStrike">
                <a:solidFill>
                  <a:srgbClr val="A61F1F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5095630" y="2023110"/>
            <a:ext cx="330564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800"/>
              <a:buFont typeface="Noto Sans"/>
              <a:buNone/>
            </a:pPr>
            <a:r>
              <a:rPr b="0" i="0" lang="ko" sz="8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구조적 0: 제품이 아직 없거나 이미 종료된 상태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4972183" y="2242566"/>
            <a:ext cx="102873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1F1F"/>
              </a:buClr>
              <a:buSzPts val="900"/>
              <a:buFont typeface="Noto Sans"/>
              <a:buNone/>
            </a:pPr>
            <a:r>
              <a:rPr b="1" i="0" lang="ko" sz="900" u="none" cap="none" strike="noStrike">
                <a:solidFill>
                  <a:srgbClr val="A61F1F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5095630" y="2242566"/>
            <a:ext cx="330564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800"/>
              <a:buFont typeface="Noto Sans"/>
              <a:buNone/>
            </a:pPr>
            <a:r>
              <a:rPr b="0" i="0" lang="ko" sz="8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진짜 0: 출시 후 실제로 팔리지 않은 날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4972183" y="2462022"/>
            <a:ext cx="102873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1F1F"/>
              </a:buClr>
              <a:buSzPts val="900"/>
              <a:buFont typeface="Noto Sans"/>
              <a:buNone/>
            </a:pPr>
            <a:r>
              <a:rPr b="1" i="0" lang="ko" sz="900" u="none" cap="none" strike="noStrike">
                <a:solidFill>
                  <a:srgbClr val="A61F1F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5095630" y="2462022"/>
            <a:ext cx="330564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800"/>
              <a:buFont typeface="Noto Sans"/>
              <a:buNone/>
            </a:pPr>
            <a:r>
              <a:rPr b="0" i="0" lang="ko" sz="8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두 경우를 구분하지 않으면 모델이 잘못된 정답을 학습함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4972183" y="2681478"/>
            <a:ext cx="102873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1F1F"/>
              </a:buClr>
              <a:buSzPts val="900"/>
              <a:buFont typeface="Noto Sans"/>
              <a:buNone/>
            </a:pPr>
            <a:r>
              <a:rPr b="1" i="0" lang="ko" sz="900" u="none" cap="none" strike="noStrike">
                <a:solidFill>
                  <a:srgbClr val="A61F1F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5095630" y="2681478"/>
            <a:ext cx="330564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800"/>
              <a:buFont typeface="Noto Sans"/>
              <a:buNone/>
            </a:pPr>
            <a:r>
              <a:rPr b="0" i="0" lang="ko" sz="8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그래서 first/last sale date 기준 구조적 0 마스킹 적용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630953" y="4114800"/>
            <a:ext cx="7873194" cy="425196"/>
          </a:xfrm>
          <a:prstGeom prst="roundRect">
            <a:avLst>
              <a:gd fmla="val 12903" name="adj"/>
            </a:avLst>
          </a:prstGeom>
          <a:solidFill>
            <a:srgbClr val="F1EEEB"/>
          </a:solidFill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740684" y="4238244"/>
            <a:ext cx="7612583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800"/>
              <a:buFont typeface="Noto Sans"/>
              <a:buNone/>
            </a:pPr>
            <a:r>
              <a:rPr b="1" i="0" lang="ko" sz="8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평균 0 판매율은 63.0%, 90% 이상이 0인 제품도 27.4%</a:t>
            </a:r>
            <a:r>
              <a:rPr b="1" lang="ko" sz="800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 &gt;&gt; </a:t>
            </a:r>
            <a:r>
              <a:rPr b="1" i="0" lang="ko" sz="8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단순 희소성이 아니라 “의미가 다른 0”</a:t>
            </a:r>
            <a:r>
              <a:rPr b="1" lang="ko" sz="800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 구분이 필수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F7F5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7" name="Google Shape;277;p22"/>
          <p:cNvCxnSpPr/>
          <p:nvPr/>
        </p:nvCxnSpPr>
        <p:spPr>
          <a:xfrm>
            <a:off x="240036" y="377190"/>
            <a:ext cx="8641200" cy="0"/>
          </a:xfrm>
          <a:prstGeom prst="straightConnector1">
            <a:avLst/>
          </a:prstGeom>
          <a:noFill/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8" name="Google Shape;278;p22"/>
          <p:cNvSpPr/>
          <p:nvPr/>
        </p:nvSpPr>
        <p:spPr>
          <a:xfrm>
            <a:off x="240036" y="123444"/>
            <a:ext cx="42522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1700"/>
              <a:buFont typeface="Noto Sans"/>
              <a:buNone/>
            </a:pPr>
            <a:r>
              <a:rPr b="1" i="0" lang="ko" sz="17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EDA 핵심 2 — “0”의 두 종류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9" name="Google Shape;279;p22"/>
          <p:cNvSpPr/>
          <p:nvPr/>
        </p:nvSpPr>
        <p:spPr>
          <a:xfrm>
            <a:off x="240036" y="336042"/>
            <a:ext cx="5760900" cy="1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D83"/>
              </a:buClr>
              <a:buSzPts val="600"/>
              <a:buFont typeface="Noto Sans"/>
              <a:buNone/>
            </a:pPr>
            <a:r>
              <a:rPr b="0" i="0" lang="ko" sz="600" u="none" cap="none" strike="noStrike">
                <a:solidFill>
                  <a:srgbClr val="7A7D83"/>
                </a:solidFill>
                <a:latin typeface="Noto Sans"/>
                <a:ea typeface="Noto Sans"/>
                <a:cs typeface="Noto Sans"/>
                <a:sym typeface="Noto Sans"/>
              </a:rPr>
              <a:t>sparse 데이터에서 중요한 건 0의 개수보다 0의 의미 구분</a:t>
            </a:r>
            <a:endParaRPr b="0" i="0" sz="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0" name="Google Shape;280;p22"/>
          <p:cNvSpPr/>
          <p:nvPr/>
        </p:nvSpPr>
        <p:spPr>
          <a:xfrm>
            <a:off x="7612583" y="109728"/>
            <a:ext cx="1062900" cy="164700"/>
          </a:xfrm>
          <a:prstGeom prst="rect">
            <a:avLst/>
          </a:prstGeom>
          <a:solidFill>
            <a:srgbClr val="A61F1F"/>
          </a:solidFill>
          <a:ln cap="flat" cmpd="sng" w="12700">
            <a:solidFill>
              <a:srgbClr val="A6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7612583" y="116586"/>
            <a:ext cx="10629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Noto Sans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Part 1 · EDA 2/3</a:t>
            </a:r>
            <a:endParaRPr b="0" i="0" sz="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2" name="Google Shape;282;p22"/>
          <p:cNvSpPr/>
          <p:nvPr/>
        </p:nvSpPr>
        <p:spPr>
          <a:xfrm>
            <a:off x="480073" y="809244"/>
            <a:ext cx="4114800" cy="3120300"/>
          </a:xfrm>
          <a:prstGeom prst="roundRect">
            <a:avLst>
              <a:gd fmla="val 1758" name="adj"/>
            </a:avLst>
          </a:prstGeom>
          <a:solidFill>
            <a:srgbClr val="FFFFFF"/>
          </a:solidFill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pt_assets/zero_ratio.jpg" id="283" name="Google Shape;28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1527" y="1150625"/>
            <a:ext cx="3771900" cy="2389623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2"/>
          <p:cNvSpPr/>
          <p:nvPr/>
        </p:nvSpPr>
        <p:spPr>
          <a:xfrm>
            <a:off x="4766437" y="809244"/>
            <a:ext cx="3874800" cy="3120300"/>
          </a:xfrm>
          <a:prstGeom prst="roundRect">
            <a:avLst>
              <a:gd fmla="val 1758" name="adj"/>
            </a:avLst>
          </a:prstGeom>
          <a:solidFill>
            <a:srgbClr val="FFFFFF"/>
          </a:solidFill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2"/>
          <p:cNvSpPr/>
          <p:nvPr/>
        </p:nvSpPr>
        <p:spPr>
          <a:xfrm>
            <a:off x="4903601" y="973836"/>
            <a:ext cx="1508700" cy="233100"/>
          </a:xfrm>
          <a:prstGeom prst="rect">
            <a:avLst/>
          </a:prstGeom>
          <a:solidFill>
            <a:srgbClr val="A61F1F"/>
          </a:solidFill>
          <a:ln cap="flat" cmpd="sng" w="12700">
            <a:solidFill>
              <a:srgbClr val="A6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2"/>
          <p:cNvSpPr/>
          <p:nvPr/>
        </p:nvSpPr>
        <p:spPr>
          <a:xfrm>
            <a:off x="4903601" y="987552"/>
            <a:ext cx="1508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Noto Sans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0의 의미를 분리해서 보자</a:t>
            </a:r>
            <a:endParaRPr b="0" i="0" sz="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4972183" y="1371600"/>
            <a:ext cx="1474500" cy="308700"/>
          </a:xfrm>
          <a:prstGeom prst="roundRect">
            <a:avLst>
              <a:gd fmla="val 13333" name="adj"/>
            </a:avLst>
          </a:prstGeom>
          <a:solidFill>
            <a:srgbClr val="F0D8D4"/>
          </a:solidFill>
          <a:ln cap="flat" cmpd="sng" w="12700">
            <a:solidFill>
              <a:srgbClr val="F0D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2"/>
          <p:cNvSpPr/>
          <p:nvPr/>
        </p:nvSpPr>
        <p:spPr>
          <a:xfrm>
            <a:off x="6412401" y="1371600"/>
            <a:ext cx="822900" cy="308700"/>
          </a:xfrm>
          <a:prstGeom prst="roundRect">
            <a:avLst>
              <a:gd fmla="val 13333" name="adj"/>
            </a:avLst>
          </a:prstGeom>
          <a:solidFill>
            <a:srgbClr val="DDEAF8"/>
          </a:solidFill>
          <a:ln cap="flat" cmpd="sng" w="12700">
            <a:solidFill>
              <a:srgbClr val="DDE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2"/>
          <p:cNvSpPr/>
          <p:nvPr/>
        </p:nvSpPr>
        <p:spPr>
          <a:xfrm>
            <a:off x="7235383" y="1371600"/>
            <a:ext cx="1062900" cy="308700"/>
          </a:xfrm>
          <a:prstGeom prst="roundRect">
            <a:avLst>
              <a:gd fmla="val 13333" name="adj"/>
            </a:avLst>
          </a:prstGeom>
          <a:solidFill>
            <a:srgbClr val="F0D8D4"/>
          </a:solidFill>
          <a:ln cap="flat" cmpd="sng" w="12700">
            <a:solidFill>
              <a:srgbClr val="F0D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2"/>
          <p:cNvSpPr/>
          <p:nvPr/>
        </p:nvSpPr>
        <p:spPr>
          <a:xfrm>
            <a:off x="4972183" y="1467612"/>
            <a:ext cx="1474500" cy="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1F1F"/>
              </a:buClr>
              <a:buSzPts val="800"/>
              <a:buFont typeface="Noto Sans"/>
              <a:buNone/>
            </a:pPr>
            <a:r>
              <a:rPr b="1" i="0" lang="ko" sz="800" u="none" cap="none" strike="noStrike">
                <a:solidFill>
                  <a:srgbClr val="A61F1F"/>
                </a:solidFill>
                <a:latin typeface="Noto Sans"/>
                <a:ea typeface="Noto Sans"/>
                <a:cs typeface="Noto Sans"/>
                <a:sym typeface="Noto Sans"/>
              </a:rPr>
              <a:t>출시 전 0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1" name="Google Shape;291;p22"/>
          <p:cNvSpPr/>
          <p:nvPr/>
        </p:nvSpPr>
        <p:spPr>
          <a:xfrm>
            <a:off x="6412401" y="1467612"/>
            <a:ext cx="822900" cy="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673"/>
              </a:buClr>
              <a:buSzPts val="800"/>
              <a:buFont typeface="Noto Sans"/>
              <a:buNone/>
            </a:pPr>
            <a:r>
              <a:rPr b="1" i="0" lang="ko" sz="800" u="none" cap="none" strike="noStrike">
                <a:solidFill>
                  <a:srgbClr val="2A5673"/>
                </a:solidFill>
                <a:latin typeface="Noto Sans"/>
                <a:ea typeface="Noto Sans"/>
                <a:cs typeface="Noto Sans"/>
                <a:sym typeface="Noto Sans"/>
              </a:rPr>
              <a:t>판매 구간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2" name="Google Shape;292;p22"/>
          <p:cNvSpPr/>
          <p:nvPr/>
        </p:nvSpPr>
        <p:spPr>
          <a:xfrm>
            <a:off x="7235383" y="1467612"/>
            <a:ext cx="1062900" cy="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1F1F"/>
              </a:buClr>
              <a:buSzPts val="800"/>
              <a:buFont typeface="Noto Sans"/>
              <a:buNone/>
            </a:pPr>
            <a:r>
              <a:rPr b="1" i="0" lang="ko" sz="800" u="none" cap="none" strike="noStrike">
                <a:solidFill>
                  <a:srgbClr val="A61F1F"/>
                </a:solidFill>
                <a:latin typeface="Noto Sans"/>
                <a:ea typeface="Noto Sans"/>
                <a:cs typeface="Noto Sans"/>
                <a:sym typeface="Noto Sans"/>
              </a:rPr>
              <a:t>단종 후 0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3" name="Google Shape;293;p22"/>
          <p:cNvSpPr/>
          <p:nvPr/>
        </p:nvSpPr>
        <p:spPr>
          <a:xfrm>
            <a:off x="4972183" y="2023110"/>
            <a:ext cx="1029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1F1F"/>
              </a:buClr>
              <a:buSzPts val="900"/>
              <a:buFont typeface="Noto Sans"/>
              <a:buNone/>
            </a:pPr>
            <a:r>
              <a:rPr b="1" i="0" lang="ko" sz="900" u="none" cap="none" strike="noStrike">
                <a:solidFill>
                  <a:srgbClr val="A61F1F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4" name="Google Shape;294;p22"/>
          <p:cNvSpPr/>
          <p:nvPr/>
        </p:nvSpPr>
        <p:spPr>
          <a:xfrm>
            <a:off x="5095630" y="2023110"/>
            <a:ext cx="33057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800"/>
              <a:buFont typeface="Noto Sans"/>
              <a:buNone/>
            </a:pPr>
            <a:r>
              <a:rPr b="0" i="0" lang="ko" sz="8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구조적 0: 제품이 아직 없거나 이미 종료된 상태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5" name="Google Shape;295;p22"/>
          <p:cNvSpPr/>
          <p:nvPr/>
        </p:nvSpPr>
        <p:spPr>
          <a:xfrm>
            <a:off x="4972183" y="2242566"/>
            <a:ext cx="1029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1F1F"/>
              </a:buClr>
              <a:buSzPts val="900"/>
              <a:buFont typeface="Noto Sans"/>
              <a:buNone/>
            </a:pPr>
            <a:r>
              <a:rPr b="1" i="0" lang="ko" sz="900" u="none" cap="none" strike="noStrike">
                <a:solidFill>
                  <a:srgbClr val="A61F1F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6" name="Google Shape;296;p22"/>
          <p:cNvSpPr/>
          <p:nvPr/>
        </p:nvSpPr>
        <p:spPr>
          <a:xfrm>
            <a:off x="5095630" y="2242566"/>
            <a:ext cx="33057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800"/>
              <a:buFont typeface="Noto Sans"/>
              <a:buNone/>
            </a:pPr>
            <a:r>
              <a:rPr b="0" i="0" lang="ko" sz="8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진짜 0: 출시 후 실제로 팔리지 않은 날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7" name="Google Shape;297;p22"/>
          <p:cNvSpPr/>
          <p:nvPr/>
        </p:nvSpPr>
        <p:spPr>
          <a:xfrm>
            <a:off x="4972183" y="2462022"/>
            <a:ext cx="1029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1F1F"/>
              </a:buClr>
              <a:buSzPts val="900"/>
              <a:buFont typeface="Noto Sans"/>
              <a:buNone/>
            </a:pPr>
            <a:r>
              <a:rPr b="1" i="0" lang="ko" sz="900" u="none" cap="none" strike="noStrike">
                <a:solidFill>
                  <a:srgbClr val="A61F1F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8" name="Google Shape;298;p22"/>
          <p:cNvSpPr/>
          <p:nvPr/>
        </p:nvSpPr>
        <p:spPr>
          <a:xfrm>
            <a:off x="5095630" y="2462022"/>
            <a:ext cx="33057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800"/>
              <a:buFont typeface="Noto Sans"/>
              <a:buNone/>
            </a:pPr>
            <a:r>
              <a:rPr b="0" i="0" lang="ko" sz="8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두 경우를 구분하지 않으면 모델이 잘못된 정답을 학습함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9" name="Google Shape;299;p22"/>
          <p:cNvSpPr/>
          <p:nvPr/>
        </p:nvSpPr>
        <p:spPr>
          <a:xfrm>
            <a:off x="4972183" y="2681478"/>
            <a:ext cx="1029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1F1F"/>
              </a:buClr>
              <a:buSzPts val="900"/>
              <a:buFont typeface="Noto Sans"/>
              <a:buNone/>
            </a:pPr>
            <a:r>
              <a:rPr b="1" i="0" lang="ko" sz="900" u="none" cap="none" strike="noStrike">
                <a:solidFill>
                  <a:srgbClr val="A61F1F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0" name="Google Shape;300;p22"/>
          <p:cNvSpPr/>
          <p:nvPr/>
        </p:nvSpPr>
        <p:spPr>
          <a:xfrm>
            <a:off x="5095630" y="2681478"/>
            <a:ext cx="33057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800"/>
              <a:buFont typeface="Noto Sans"/>
              <a:buNone/>
            </a:pPr>
            <a:r>
              <a:rPr b="0" i="0" lang="ko" sz="8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그래서 first/last sale date 기준 구조적 0 마스킹 적용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1" name="Google Shape;301;p22"/>
          <p:cNvSpPr/>
          <p:nvPr/>
        </p:nvSpPr>
        <p:spPr>
          <a:xfrm>
            <a:off x="630953" y="4114800"/>
            <a:ext cx="7873200" cy="425100"/>
          </a:xfrm>
          <a:prstGeom prst="roundRect">
            <a:avLst>
              <a:gd fmla="val 12903" name="adj"/>
            </a:avLst>
          </a:prstGeom>
          <a:solidFill>
            <a:srgbClr val="F1EEEB"/>
          </a:solidFill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2"/>
          <p:cNvSpPr/>
          <p:nvPr/>
        </p:nvSpPr>
        <p:spPr>
          <a:xfrm>
            <a:off x="740684" y="4238244"/>
            <a:ext cx="76125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800"/>
              <a:buFont typeface="Noto Sans"/>
              <a:buNone/>
            </a:pPr>
            <a:r>
              <a:rPr b="1" i="0" lang="ko" sz="8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평균 0 판매율은 63.0%, 90% 이상이 0인 제품도 27.4%</a:t>
            </a:r>
            <a:r>
              <a:rPr b="1" lang="ko" sz="800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 &gt;&gt; </a:t>
            </a:r>
            <a:r>
              <a:rPr b="1" i="0" lang="ko" sz="8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단순 희소성이 아니라 “의미가 다른 0”</a:t>
            </a:r>
            <a:r>
              <a:rPr b="1" lang="ko" sz="800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 구분이 필수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303" name="Google Shape;30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1775" y="746963"/>
            <a:ext cx="6400800" cy="380047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2"/>
          <p:cNvSpPr txBox="1"/>
          <p:nvPr/>
        </p:nvSpPr>
        <p:spPr>
          <a:xfrm>
            <a:off x="2063375" y="4670250"/>
            <a:ext cx="60480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 날짜 이전의 데이터는 '학습 제외' 혹은 '마스킹' 처리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3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F7F5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1" name="Google Shape;311;p23"/>
          <p:cNvCxnSpPr/>
          <p:nvPr/>
        </p:nvCxnSpPr>
        <p:spPr>
          <a:xfrm>
            <a:off x="240036" y="377190"/>
            <a:ext cx="8641310" cy="0"/>
          </a:xfrm>
          <a:prstGeom prst="straightConnector1">
            <a:avLst/>
          </a:prstGeom>
          <a:noFill/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2" name="Google Shape;312;p23"/>
          <p:cNvSpPr/>
          <p:nvPr/>
        </p:nvSpPr>
        <p:spPr>
          <a:xfrm>
            <a:off x="240048" y="123449"/>
            <a:ext cx="6176865" cy="164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1700"/>
              <a:buFont typeface="Noto Sans"/>
              <a:buNone/>
            </a:pPr>
            <a:r>
              <a:rPr b="1" i="0" lang="ko" sz="17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EDA 핵심 3 — Spike(이상치)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3" name="Google Shape;313;p23"/>
          <p:cNvSpPr/>
          <p:nvPr/>
        </p:nvSpPr>
        <p:spPr>
          <a:xfrm>
            <a:off x="240036" y="336042"/>
            <a:ext cx="5760874" cy="1028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D83"/>
              </a:buClr>
              <a:buSzPts val="600"/>
              <a:buFont typeface="Noto Sans"/>
              <a:buNone/>
            </a:pPr>
            <a:r>
              <a:rPr b="0" i="0" lang="ko" sz="600" u="none" cap="none" strike="noStrike">
                <a:solidFill>
                  <a:srgbClr val="7A7D83"/>
                </a:solidFill>
                <a:latin typeface="Noto Sans"/>
                <a:ea typeface="Noto Sans"/>
                <a:cs typeface="Noto Sans"/>
                <a:sym typeface="Noto Sans"/>
              </a:rPr>
              <a:t>EDA에서 본 현상을 전처리 결정으로 연결</a:t>
            </a:r>
            <a:endParaRPr b="0" i="0" sz="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4" name="Google Shape;314;p23"/>
          <p:cNvSpPr/>
          <p:nvPr/>
        </p:nvSpPr>
        <p:spPr>
          <a:xfrm>
            <a:off x="7612583" y="109728"/>
            <a:ext cx="1063018" cy="164592"/>
          </a:xfrm>
          <a:prstGeom prst="rect">
            <a:avLst/>
          </a:prstGeom>
          <a:solidFill>
            <a:srgbClr val="A61F1F"/>
          </a:solidFill>
          <a:ln cap="flat" cmpd="sng" w="12700">
            <a:solidFill>
              <a:srgbClr val="A6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3"/>
          <p:cNvSpPr/>
          <p:nvPr/>
        </p:nvSpPr>
        <p:spPr>
          <a:xfrm>
            <a:off x="7612583" y="116586"/>
            <a:ext cx="1063018" cy="96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Noto Sans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Part 1 · EDA 3/3</a:t>
            </a:r>
            <a:endParaRPr b="0" i="0" sz="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6" name="Google Shape;316;p23"/>
          <p:cNvSpPr/>
          <p:nvPr/>
        </p:nvSpPr>
        <p:spPr>
          <a:xfrm>
            <a:off x="493789" y="836676"/>
            <a:ext cx="4197208" cy="315468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3"/>
          <p:cNvSpPr/>
          <p:nvPr/>
        </p:nvSpPr>
        <p:spPr>
          <a:xfrm>
            <a:off x="630953" y="973836"/>
            <a:ext cx="3922881" cy="192024"/>
          </a:xfrm>
          <a:prstGeom prst="rect">
            <a:avLst/>
          </a:prstGeom>
          <a:solidFill>
            <a:srgbClr val="A61F1F"/>
          </a:solidFill>
          <a:ln cap="flat" cmpd="sng" w="12700">
            <a:solidFill>
              <a:srgbClr val="A6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3"/>
          <p:cNvSpPr/>
          <p:nvPr/>
        </p:nvSpPr>
        <p:spPr>
          <a:xfrm>
            <a:off x="644669" y="1001268"/>
            <a:ext cx="389544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Noto Sans"/>
              <a:buNone/>
            </a:pPr>
            <a:r>
              <a:rPr b="1" lang="ko" sz="7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제품별 SPIKE 판매 패턴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descr="/mnt/data/ppt_assets/structural_zero_examples.jpg" id="319" name="Google Shape;31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117" y="1234440"/>
            <a:ext cx="3334464" cy="243459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3"/>
          <p:cNvSpPr/>
          <p:nvPr/>
        </p:nvSpPr>
        <p:spPr>
          <a:xfrm>
            <a:off x="4814444" y="836676"/>
            <a:ext cx="3826866" cy="315468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3"/>
          <p:cNvSpPr/>
          <p:nvPr/>
        </p:nvSpPr>
        <p:spPr>
          <a:xfrm>
            <a:off x="4951608" y="973836"/>
            <a:ext cx="3552539" cy="192024"/>
          </a:xfrm>
          <a:prstGeom prst="rect">
            <a:avLst/>
          </a:prstGeom>
          <a:solidFill>
            <a:srgbClr val="E89B31"/>
          </a:solidFill>
          <a:ln cap="flat" cmpd="sng" w="12700">
            <a:solidFill>
              <a:srgbClr val="E89B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3"/>
          <p:cNvSpPr/>
          <p:nvPr/>
        </p:nvSpPr>
        <p:spPr>
          <a:xfrm>
            <a:off x="4965324" y="1001268"/>
            <a:ext cx="3525106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Noto Sans"/>
              <a:buNone/>
            </a:pPr>
            <a:r>
              <a:rPr b="1" i="0" lang="ko" sz="7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Spike(이상치) 해석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3" name="Google Shape;323;p23"/>
          <p:cNvSpPr/>
          <p:nvPr/>
        </p:nvSpPr>
        <p:spPr>
          <a:xfrm>
            <a:off x="5040764" y="1337310"/>
            <a:ext cx="2606109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1200"/>
              <a:buFont typeface="Noto Sans"/>
              <a:buNone/>
            </a:pPr>
            <a:r>
              <a:rPr b="1" i="0" lang="ko" sz="12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판매량이 갑자기 치솟는 날짜가 존재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24" name="Google Shape;324;p23"/>
          <p:cNvCxnSpPr/>
          <p:nvPr/>
        </p:nvCxnSpPr>
        <p:spPr>
          <a:xfrm>
            <a:off x="5109346" y="2592324"/>
            <a:ext cx="3189055" cy="0"/>
          </a:xfrm>
          <a:prstGeom prst="straightConnector1">
            <a:avLst/>
          </a:prstGeom>
          <a:noFill/>
          <a:ln cap="flat" cmpd="sng" w="12700">
            <a:solidFill>
              <a:srgbClr val="D9D3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5" name="Google Shape;325;p23"/>
          <p:cNvCxnSpPr/>
          <p:nvPr/>
        </p:nvCxnSpPr>
        <p:spPr>
          <a:xfrm>
            <a:off x="5177928" y="2455164"/>
            <a:ext cx="205745" cy="41148"/>
          </a:xfrm>
          <a:prstGeom prst="straightConnector1">
            <a:avLst/>
          </a:prstGeom>
          <a:noFill/>
          <a:ln cap="flat" cmpd="sng" w="12700">
            <a:solidFill>
              <a:srgbClr val="C53A2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6" name="Google Shape;326;p23"/>
          <p:cNvCxnSpPr/>
          <p:nvPr/>
        </p:nvCxnSpPr>
        <p:spPr>
          <a:xfrm flipH="1" rot="10800000">
            <a:off x="5383674" y="2386584"/>
            <a:ext cx="205745" cy="109728"/>
          </a:xfrm>
          <a:prstGeom prst="straightConnector1">
            <a:avLst/>
          </a:prstGeom>
          <a:noFill/>
          <a:ln cap="flat" cmpd="sng" w="12700">
            <a:solidFill>
              <a:srgbClr val="C53A2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7" name="Google Shape;327;p23"/>
          <p:cNvCxnSpPr/>
          <p:nvPr/>
        </p:nvCxnSpPr>
        <p:spPr>
          <a:xfrm>
            <a:off x="5589419" y="2386584"/>
            <a:ext cx="205745" cy="96012"/>
          </a:xfrm>
          <a:prstGeom prst="straightConnector1">
            <a:avLst/>
          </a:prstGeom>
          <a:noFill/>
          <a:ln cap="flat" cmpd="sng" w="12700">
            <a:solidFill>
              <a:srgbClr val="C53A2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8" name="Google Shape;328;p23"/>
          <p:cNvCxnSpPr/>
          <p:nvPr/>
        </p:nvCxnSpPr>
        <p:spPr>
          <a:xfrm flipH="1" rot="10800000">
            <a:off x="5795164" y="2441448"/>
            <a:ext cx="205745" cy="41148"/>
          </a:xfrm>
          <a:prstGeom prst="straightConnector1">
            <a:avLst/>
          </a:prstGeom>
          <a:noFill/>
          <a:ln cap="flat" cmpd="sng" w="12700">
            <a:solidFill>
              <a:srgbClr val="C53A2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9" name="Google Shape;329;p23"/>
          <p:cNvCxnSpPr/>
          <p:nvPr/>
        </p:nvCxnSpPr>
        <p:spPr>
          <a:xfrm flipH="1" rot="10800000">
            <a:off x="6000910" y="2146554"/>
            <a:ext cx="205745" cy="294894"/>
          </a:xfrm>
          <a:prstGeom prst="straightConnector1">
            <a:avLst/>
          </a:prstGeom>
          <a:noFill/>
          <a:ln cap="flat" cmpd="sng" w="12700">
            <a:solidFill>
              <a:srgbClr val="C53A2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0" name="Google Shape;330;p23"/>
          <p:cNvCxnSpPr/>
          <p:nvPr/>
        </p:nvCxnSpPr>
        <p:spPr>
          <a:xfrm>
            <a:off x="6206655" y="2146554"/>
            <a:ext cx="171455" cy="342900"/>
          </a:xfrm>
          <a:prstGeom prst="straightConnector1">
            <a:avLst/>
          </a:prstGeom>
          <a:noFill/>
          <a:ln cap="flat" cmpd="sng" w="12700">
            <a:solidFill>
              <a:srgbClr val="C53A2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1" name="Google Shape;331;p23"/>
          <p:cNvCxnSpPr/>
          <p:nvPr/>
        </p:nvCxnSpPr>
        <p:spPr>
          <a:xfrm flipH="1" rot="10800000">
            <a:off x="6378110" y="2400300"/>
            <a:ext cx="171455" cy="89154"/>
          </a:xfrm>
          <a:prstGeom prst="straightConnector1">
            <a:avLst/>
          </a:prstGeom>
          <a:noFill/>
          <a:ln cap="flat" cmpd="sng" w="12700">
            <a:solidFill>
              <a:srgbClr val="C53A2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2" name="Google Shape;332;p23"/>
          <p:cNvCxnSpPr/>
          <p:nvPr/>
        </p:nvCxnSpPr>
        <p:spPr>
          <a:xfrm>
            <a:off x="6549565" y="2400300"/>
            <a:ext cx="205745" cy="82296"/>
          </a:xfrm>
          <a:prstGeom prst="straightConnector1">
            <a:avLst/>
          </a:prstGeom>
          <a:noFill/>
          <a:ln cap="flat" cmpd="sng" w="12700">
            <a:solidFill>
              <a:srgbClr val="C53A2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3" name="Google Shape;333;p23"/>
          <p:cNvCxnSpPr/>
          <p:nvPr/>
        </p:nvCxnSpPr>
        <p:spPr>
          <a:xfrm flipH="1" rot="10800000">
            <a:off x="6755310" y="2283714"/>
            <a:ext cx="205745" cy="198882"/>
          </a:xfrm>
          <a:prstGeom prst="straightConnector1">
            <a:avLst/>
          </a:prstGeom>
          <a:noFill/>
          <a:ln cap="flat" cmpd="sng" w="12700">
            <a:solidFill>
              <a:srgbClr val="C53A2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4" name="Google Shape;334;p23"/>
          <p:cNvCxnSpPr/>
          <p:nvPr/>
        </p:nvCxnSpPr>
        <p:spPr>
          <a:xfrm>
            <a:off x="6961056" y="2283714"/>
            <a:ext cx="205745" cy="185166"/>
          </a:xfrm>
          <a:prstGeom prst="straightConnector1">
            <a:avLst/>
          </a:prstGeom>
          <a:noFill/>
          <a:ln cap="flat" cmpd="sng" w="12700">
            <a:solidFill>
              <a:srgbClr val="C53A2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" name="Google Shape;335;p23"/>
          <p:cNvCxnSpPr/>
          <p:nvPr/>
        </p:nvCxnSpPr>
        <p:spPr>
          <a:xfrm flipH="1" rot="10800000">
            <a:off x="7166801" y="2009394"/>
            <a:ext cx="205745" cy="459486"/>
          </a:xfrm>
          <a:prstGeom prst="straightConnector1">
            <a:avLst/>
          </a:prstGeom>
          <a:noFill/>
          <a:ln cap="flat" cmpd="sng" w="12700">
            <a:solidFill>
              <a:srgbClr val="C53A2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" name="Google Shape;336;p23"/>
          <p:cNvCxnSpPr/>
          <p:nvPr/>
        </p:nvCxnSpPr>
        <p:spPr>
          <a:xfrm>
            <a:off x="7372547" y="2009394"/>
            <a:ext cx="240036" cy="445770"/>
          </a:xfrm>
          <a:prstGeom prst="straightConnector1">
            <a:avLst/>
          </a:prstGeom>
          <a:noFill/>
          <a:ln cap="flat" cmpd="sng" w="12700">
            <a:solidFill>
              <a:srgbClr val="C53A2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7" name="Google Shape;337;p23"/>
          <p:cNvCxnSpPr/>
          <p:nvPr/>
        </p:nvCxnSpPr>
        <p:spPr>
          <a:xfrm flipH="1" rot="10800000">
            <a:off x="7612583" y="2400300"/>
            <a:ext cx="240036" cy="54864"/>
          </a:xfrm>
          <a:prstGeom prst="straightConnector1">
            <a:avLst/>
          </a:prstGeom>
          <a:noFill/>
          <a:ln cap="flat" cmpd="sng" w="12700">
            <a:solidFill>
              <a:srgbClr val="C53A2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8" name="Google Shape;338;p23"/>
          <p:cNvCxnSpPr/>
          <p:nvPr/>
        </p:nvCxnSpPr>
        <p:spPr>
          <a:xfrm>
            <a:off x="7852619" y="2400300"/>
            <a:ext cx="274327" cy="41148"/>
          </a:xfrm>
          <a:prstGeom prst="straightConnector1">
            <a:avLst/>
          </a:prstGeom>
          <a:noFill/>
          <a:ln cap="flat" cmpd="sng" w="12700">
            <a:solidFill>
              <a:srgbClr val="C53A2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9" name="Google Shape;339;p23"/>
          <p:cNvSpPr/>
          <p:nvPr/>
        </p:nvSpPr>
        <p:spPr>
          <a:xfrm>
            <a:off x="5040764" y="1659636"/>
            <a:ext cx="336051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1F1F"/>
              </a:buClr>
              <a:buSzPts val="1000"/>
              <a:buFont typeface="Noto Sans"/>
              <a:buNone/>
            </a:pPr>
            <a:r>
              <a:rPr b="1" i="0" lang="ko" sz="1000" u="none" cap="none" strike="noStrike">
                <a:solidFill>
                  <a:srgbClr val="A61F1F"/>
                </a:solidFill>
                <a:latin typeface="Noto Sans"/>
                <a:ea typeface="Noto Sans"/>
                <a:cs typeface="Noto Sans"/>
                <a:sym typeface="Noto Sans"/>
              </a:rPr>
              <a:t>Spike는 전부 제거하지 않고,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1F1F"/>
              </a:buClr>
              <a:buSzPts val="1000"/>
              <a:buFont typeface="Noto Sans"/>
              <a:buNone/>
            </a:pPr>
            <a:r>
              <a:rPr b="1" i="0" lang="ko" sz="1000" u="none" cap="none" strike="noStrike">
                <a:solidFill>
                  <a:srgbClr val="A61F1F"/>
                </a:solidFill>
                <a:latin typeface="Noto Sans"/>
                <a:ea typeface="Noto Sans"/>
                <a:cs typeface="Noto Sans"/>
                <a:sym typeface="Noto Sans"/>
              </a:rPr>
              <a:t>비정상적으로 큰 값만 상한선을 두고 클리핑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0" name="Google Shape;340;p23"/>
          <p:cNvSpPr/>
          <p:nvPr/>
        </p:nvSpPr>
        <p:spPr>
          <a:xfrm>
            <a:off x="5040764" y="3209555"/>
            <a:ext cx="1029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1F1F"/>
              </a:buClr>
              <a:buSzPts val="900"/>
              <a:buFont typeface="Noto Sans"/>
              <a:buNone/>
            </a:pPr>
            <a:r>
              <a:rPr b="1" i="0" lang="ko" sz="900" u="none" cap="none" strike="noStrike">
                <a:solidFill>
                  <a:srgbClr val="A61F1F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1" name="Google Shape;341;p23"/>
          <p:cNvSpPr/>
          <p:nvPr/>
        </p:nvSpPr>
        <p:spPr>
          <a:xfrm>
            <a:off x="5164212" y="3209555"/>
            <a:ext cx="32370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800"/>
              <a:buFont typeface="Noto Sans"/>
              <a:buNone/>
            </a:pPr>
            <a:r>
              <a:rPr b="0" i="0" lang="ko" sz="8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판매 시작/종료 정보 → 구조적 0 마스킹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2" name="Google Shape;342;p23"/>
          <p:cNvSpPr/>
          <p:nvPr/>
        </p:nvSpPr>
        <p:spPr>
          <a:xfrm>
            <a:off x="5040764" y="3429011"/>
            <a:ext cx="1029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1F1F"/>
              </a:buClr>
              <a:buSzPts val="900"/>
              <a:buFont typeface="Noto Sans"/>
              <a:buNone/>
            </a:pPr>
            <a:r>
              <a:rPr b="1" i="0" lang="ko" sz="900" u="none" cap="none" strike="noStrike">
                <a:solidFill>
                  <a:srgbClr val="A61F1F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3" name="Google Shape;343;p23"/>
          <p:cNvSpPr/>
          <p:nvPr/>
        </p:nvSpPr>
        <p:spPr>
          <a:xfrm>
            <a:off x="5164212" y="3429011"/>
            <a:ext cx="32370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800"/>
              <a:buFont typeface="Noto Sans"/>
              <a:buNone/>
            </a:pPr>
            <a:r>
              <a:rPr b="0" i="0" lang="ko" sz="8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극단적 Spike → 상한선 기반 clipping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4" name="Google Shape;344;p23"/>
          <p:cNvSpPr/>
          <p:nvPr/>
        </p:nvSpPr>
        <p:spPr>
          <a:xfrm>
            <a:off x="5040764" y="3648467"/>
            <a:ext cx="1029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1F1F"/>
              </a:buClr>
              <a:buSzPts val="900"/>
              <a:buFont typeface="Noto Sans"/>
              <a:buNone/>
            </a:pPr>
            <a:r>
              <a:rPr b="1" i="0" lang="ko" sz="900" u="none" cap="none" strike="noStrike">
                <a:solidFill>
                  <a:srgbClr val="A61F1F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b="0" i="0" sz="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5" name="Google Shape;345;p23"/>
          <p:cNvSpPr/>
          <p:nvPr/>
        </p:nvSpPr>
        <p:spPr>
          <a:xfrm>
            <a:off x="5164212" y="3648467"/>
            <a:ext cx="32370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800"/>
              <a:buFont typeface="Noto Sans"/>
              <a:buNone/>
            </a:pPr>
            <a:r>
              <a:rPr b="0" i="0" lang="ko" sz="8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EDA에서 본 “현상”을 그대로 전처리 정책으로 번역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6" name="Google Shape;346;p23"/>
          <p:cNvSpPr/>
          <p:nvPr/>
        </p:nvSpPr>
        <p:spPr>
          <a:xfrm>
            <a:off x="651527" y="4128516"/>
            <a:ext cx="7852619" cy="411480"/>
          </a:xfrm>
          <a:prstGeom prst="roundRect">
            <a:avLst>
              <a:gd fmla="val 13333" name="adj"/>
            </a:avLst>
          </a:prstGeom>
          <a:solidFill>
            <a:srgbClr val="F1EEEB"/>
          </a:solidFill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3"/>
          <p:cNvSpPr/>
          <p:nvPr/>
        </p:nvSpPr>
        <p:spPr>
          <a:xfrm>
            <a:off x="788691" y="4238244"/>
            <a:ext cx="41149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1F1F"/>
              </a:buClr>
              <a:buSzPts val="800"/>
              <a:buFont typeface="Noto Sans"/>
              <a:buNone/>
            </a:pPr>
            <a:r>
              <a:rPr b="1" i="0" lang="ko" sz="800" u="none" cap="none" strike="noStrike">
                <a:solidFill>
                  <a:srgbClr val="A61F1F"/>
                </a:solidFill>
                <a:latin typeface="Noto Sans"/>
                <a:ea typeface="Noto Sans"/>
                <a:cs typeface="Noto Sans"/>
                <a:sym typeface="Noto Sans"/>
              </a:rPr>
              <a:t>EDA는 설명용 그래프가 아니라 “전처리와 피처 설계의 근거”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348" name="Google Shape;34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8200" y="2110212"/>
            <a:ext cx="3611349" cy="96425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F7F5F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1A1A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4"/>
          <p:cNvSpPr txBox="1"/>
          <p:nvPr/>
        </p:nvSpPr>
        <p:spPr>
          <a:xfrm>
            <a:off x="1323600" y="2325450"/>
            <a:ext cx="649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Part 2  지표 재해석과 전략 전환</a:t>
            </a:r>
            <a:endParaRPr b="1" sz="20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F7F5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0" name="Google Shape;360;p25"/>
          <p:cNvCxnSpPr/>
          <p:nvPr/>
        </p:nvCxnSpPr>
        <p:spPr>
          <a:xfrm>
            <a:off x="240036" y="377190"/>
            <a:ext cx="8641200" cy="0"/>
          </a:xfrm>
          <a:prstGeom prst="straightConnector1">
            <a:avLst/>
          </a:prstGeom>
          <a:noFill/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" name="Google Shape;361;p25"/>
          <p:cNvSpPr/>
          <p:nvPr/>
        </p:nvSpPr>
        <p:spPr>
          <a:xfrm>
            <a:off x="240048" y="123449"/>
            <a:ext cx="63975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1700"/>
              <a:buFont typeface="Noto Sans"/>
              <a:buNone/>
            </a:pPr>
            <a:r>
              <a:rPr b="1" lang="ko" sz="1700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터닝포인트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2" name="Google Shape;362;p25"/>
          <p:cNvSpPr/>
          <p:nvPr/>
        </p:nvSpPr>
        <p:spPr>
          <a:xfrm>
            <a:off x="240036" y="336042"/>
            <a:ext cx="5760900" cy="1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D83"/>
              </a:buClr>
              <a:buSzPts val="600"/>
              <a:buFont typeface="Noto Sans"/>
              <a:buNone/>
            </a:pPr>
            <a:r>
              <a:rPr lang="ko" sz="600">
                <a:solidFill>
                  <a:srgbClr val="7A7D83"/>
                </a:solidFill>
                <a:latin typeface="Noto Sans"/>
                <a:ea typeface="Noto Sans"/>
                <a:cs typeface="Noto Sans"/>
                <a:sym typeface="Noto Sans"/>
              </a:rPr>
              <a:t>지표의 중요성</a:t>
            </a:r>
            <a:endParaRPr b="0" i="0" sz="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3" name="Google Shape;363;p25"/>
          <p:cNvSpPr/>
          <p:nvPr/>
        </p:nvSpPr>
        <p:spPr>
          <a:xfrm>
            <a:off x="7612583" y="109728"/>
            <a:ext cx="1062900" cy="164700"/>
          </a:xfrm>
          <a:prstGeom prst="rect">
            <a:avLst/>
          </a:prstGeom>
          <a:solidFill>
            <a:srgbClr val="A61F1F"/>
          </a:solidFill>
          <a:ln cap="flat" cmpd="sng" w="12700">
            <a:solidFill>
              <a:srgbClr val="A6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5"/>
          <p:cNvSpPr/>
          <p:nvPr/>
        </p:nvSpPr>
        <p:spPr>
          <a:xfrm>
            <a:off x="7612583" y="116586"/>
            <a:ext cx="10629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Noto Sans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Part 2 · 전처리</a:t>
            </a:r>
            <a:endParaRPr b="0" i="0" sz="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365" name="Google Shape;36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4250" y="819000"/>
            <a:ext cx="4282701" cy="26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5"/>
          <p:cNvSpPr/>
          <p:nvPr/>
        </p:nvSpPr>
        <p:spPr>
          <a:xfrm>
            <a:off x="662271" y="4105794"/>
            <a:ext cx="2777700" cy="836700"/>
          </a:xfrm>
          <a:prstGeom prst="roundRect">
            <a:avLst>
              <a:gd fmla="val 6557" name="adj"/>
            </a:avLst>
          </a:prstGeom>
          <a:solidFill>
            <a:srgbClr val="F8ECE8"/>
          </a:solidFill>
          <a:ln cap="flat" cmpd="sng" w="12700">
            <a:solidFill>
              <a:srgbClr val="E6C9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5"/>
          <p:cNvSpPr/>
          <p:nvPr/>
        </p:nvSpPr>
        <p:spPr>
          <a:xfrm>
            <a:off x="746542" y="4153800"/>
            <a:ext cx="17175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1F1F"/>
              </a:buClr>
              <a:buSzPts val="800"/>
              <a:buFont typeface="Noto Sans"/>
              <a:buNone/>
            </a:pPr>
            <a:r>
              <a:rPr b="1" i="0" lang="ko" sz="1400" u="none" cap="none" strike="noStrike">
                <a:solidFill>
                  <a:srgbClr val="A61F1F"/>
                </a:solidFill>
                <a:latin typeface="Noto Sans"/>
                <a:ea typeface="Noto Sans"/>
                <a:cs typeface="Noto Sans"/>
                <a:sym typeface="Noto Sans"/>
              </a:rPr>
              <a:t>평가 지표 : </a:t>
            </a:r>
            <a:r>
              <a:rPr b="1" lang="ko">
                <a:solidFill>
                  <a:srgbClr val="A61F1F"/>
                </a:solidFill>
                <a:latin typeface="Noto Sans"/>
                <a:ea typeface="Noto Sans"/>
                <a:cs typeface="Noto Sans"/>
                <a:sym typeface="Noto Sans"/>
              </a:rPr>
              <a:t>RMSE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8" name="Google Shape;368;p25"/>
          <p:cNvSpPr/>
          <p:nvPr/>
        </p:nvSpPr>
        <p:spPr>
          <a:xfrm>
            <a:off x="888450" y="4397288"/>
            <a:ext cx="23253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* </a:t>
            </a:r>
            <a:r>
              <a:rPr b="1" lang="ko" sz="1000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로컬 평가 </a:t>
            </a:r>
            <a:r>
              <a:rPr b="1" i="0" lang="ko" sz="10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기준      * </a:t>
            </a:r>
            <a:r>
              <a:rPr b="1" lang="ko" sz="1000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낮을수록 좋음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9" name="Google Shape;369;p25"/>
          <p:cNvSpPr/>
          <p:nvPr/>
        </p:nvSpPr>
        <p:spPr>
          <a:xfrm>
            <a:off x="724002" y="4592756"/>
            <a:ext cx="2573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168"/>
              </a:buClr>
              <a:buSzPts val="700"/>
              <a:buFont typeface="Noto Sans"/>
              <a:buNone/>
            </a:pPr>
            <a:r>
              <a:rPr b="0" i="0" lang="ko" sz="700" u="none" cap="none" strike="noStrike">
                <a:solidFill>
                  <a:srgbClr val="5F6168"/>
                </a:solidFill>
                <a:latin typeface="Noto Sans"/>
                <a:ea typeface="Noto Sans"/>
                <a:cs typeface="Noto Sans"/>
                <a:sym typeface="Noto Sans"/>
              </a:rPr>
              <a:t>→ </a:t>
            </a:r>
            <a:r>
              <a:rPr lang="ko" sz="700">
                <a:solidFill>
                  <a:srgbClr val="5F6168"/>
                </a:solidFill>
                <a:latin typeface="Noto Sans"/>
                <a:ea typeface="Noto Sans"/>
                <a:cs typeface="Noto Sans"/>
                <a:sym typeface="Noto Sans"/>
              </a:rPr>
              <a:t>단순 오차의 크기에 집중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0" name="Google Shape;370;p25"/>
          <p:cNvSpPr/>
          <p:nvPr/>
        </p:nvSpPr>
        <p:spPr>
          <a:xfrm>
            <a:off x="5603271" y="4092119"/>
            <a:ext cx="2777700" cy="836700"/>
          </a:xfrm>
          <a:prstGeom prst="roundRect">
            <a:avLst>
              <a:gd fmla="val 6557" name="adj"/>
            </a:avLst>
          </a:prstGeom>
          <a:solidFill>
            <a:srgbClr val="F8ECE8"/>
          </a:solidFill>
          <a:ln cap="flat" cmpd="sng" w="12700">
            <a:solidFill>
              <a:srgbClr val="E6C9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5"/>
          <p:cNvSpPr/>
          <p:nvPr/>
        </p:nvSpPr>
        <p:spPr>
          <a:xfrm>
            <a:off x="5687542" y="4140125"/>
            <a:ext cx="17175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1F1F"/>
              </a:buClr>
              <a:buSzPts val="800"/>
              <a:buFont typeface="Noto Sans"/>
              <a:buNone/>
            </a:pPr>
            <a:r>
              <a:rPr b="1" i="0" lang="ko" sz="1400" u="none" cap="none" strike="noStrike">
                <a:solidFill>
                  <a:srgbClr val="A61F1F"/>
                </a:solidFill>
                <a:latin typeface="Noto Sans"/>
                <a:ea typeface="Noto Sans"/>
                <a:cs typeface="Noto Sans"/>
                <a:sym typeface="Noto Sans"/>
              </a:rPr>
              <a:t>평가 지표 : PSFA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2" name="Google Shape;372;p25"/>
          <p:cNvSpPr/>
          <p:nvPr/>
        </p:nvSpPr>
        <p:spPr>
          <a:xfrm>
            <a:off x="5829450" y="4383613"/>
            <a:ext cx="23253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ko" sz="10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* 대회 제출 기준      * 높을수록 좋음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3" name="Google Shape;373;p25"/>
          <p:cNvSpPr/>
          <p:nvPr/>
        </p:nvSpPr>
        <p:spPr>
          <a:xfrm>
            <a:off x="5665002" y="4579081"/>
            <a:ext cx="2573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168"/>
              </a:buClr>
              <a:buSzPts val="700"/>
              <a:buFont typeface="Noto Sans"/>
              <a:buNone/>
            </a:pPr>
            <a:r>
              <a:rPr b="0" i="0" lang="ko" sz="700" u="none" cap="none" strike="noStrike">
                <a:solidFill>
                  <a:srgbClr val="5F6168"/>
                </a:solidFill>
                <a:latin typeface="Noto Sans"/>
                <a:ea typeface="Noto Sans"/>
                <a:cs typeface="Noto Sans"/>
                <a:sym typeface="Noto Sans"/>
              </a:rPr>
              <a:t>→ </a:t>
            </a:r>
            <a:r>
              <a:rPr lang="ko" sz="700">
                <a:solidFill>
                  <a:srgbClr val="5F6168"/>
                </a:solidFill>
                <a:latin typeface="Noto Sans"/>
                <a:ea typeface="Noto Sans"/>
                <a:cs typeface="Noto Sans"/>
                <a:sym typeface="Noto Sans"/>
              </a:rPr>
              <a:t>전체 판매 흐름의 패턴과 안정성을 함께 평가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374" name="Google Shape;37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213" y="661675"/>
            <a:ext cx="3324225" cy="297180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F7F5F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75" name="Google Shape;375;p25"/>
          <p:cNvSpPr/>
          <p:nvPr/>
        </p:nvSpPr>
        <p:spPr>
          <a:xfrm>
            <a:off x="521225" y="1071488"/>
            <a:ext cx="2701200" cy="219600"/>
          </a:xfrm>
          <a:prstGeom prst="ellipse">
            <a:avLst/>
          </a:prstGeom>
          <a:noFill/>
          <a:ln cap="flat" cmpd="sng" w="9525">
            <a:solidFill>
              <a:srgbClr val="A6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5"/>
          <p:cNvSpPr/>
          <p:nvPr/>
        </p:nvSpPr>
        <p:spPr>
          <a:xfrm>
            <a:off x="4684250" y="2080490"/>
            <a:ext cx="3918000" cy="233100"/>
          </a:xfrm>
          <a:prstGeom prst="ellipse">
            <a:avLst/>
          </a:prstGeom>
          <a:noFill/>
          <a:ln cap="flat" cmpd="sng" w="9525">
            <a:solidFill>
              <a:srgbClr val="A6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7" name="Google Shape;377;p25"/>
          <p:cNvCxnSpPr>
            <a:endCxn id="376" idx="2"/>
          </p:cNvCxnSpPr>
          <p:nvPr/>
        </p:nvCxnSpPr>
        <p:spPr>
          <a:xfrm>
            <a:off x="3222050" y="1175840"/>
            <a:ext cx="1462200" cy="1021200"/>
          </a:xfrm>
          <a:prstGeom prst="straightConnector1">
            <a:avLst/>
          </a:prstGeom>
          <a:noFill/>
          <a:ln cap="flat" cmpd="sng" w="9525">
            <a:solidFill>
              <a:srgbClr val="A61F1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F7F5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6"/>
          <p:cNvSpPr/>
          <p:nvPr/>
        </p:nvSpPr>
        <p:spPr>
          <a:xfrm>
            <a:off x="493800" y="809252"/>
            <a:ext cx="5486400" cy="4288200"/>
          </a:xfrm>
          <a:prstGeom prst="roundRect">
            <a:avLst>
              <a:gd fmla="val 1616" name="adj"/>
            </a:avLst>
          </a:prstGeom>
          <a:solidFill>
            <a:srgbClr val="FFFFFF"/>
          </a:solidFill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6"/>
          <p:cNvSpPr/>
          <p:nvPr/>
        </p:nvSpPr>
        <p:spPr>
          <a:xfrm>
            <a:off x="665248" y="1156173"/>
            <a:ext cx="857400" cy="2466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800"/>
              <a:buFont typeface="Noto Sans"/>
              <a:buNone/>
            </a:pPr>
            <a:r>
              <a:rPr b="1" lang="ko" sz="800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Method 1</a:t>
            </a:r>
            <a:endParaRPr sz="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6" name="Google Shape;386;p26"/>
          <p:cNvSpPr/>
          <p:nvPr/>
        </p:nvSpPr>
        <p:spPr>
          <a:xfrm>
            <a:off x="1556932" y="1156173"/>
            <a:ext cx="2057400" cy="2466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700"/>
              <a:buFont typeface="Noto Sans"/>
              <a:buNone/>
            </a:pPr>
            <a:r>
              <a:rPr lang="ko" sz="700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원본 유지</a:t>
            </a:r>
            <a:endParaRPr sz="7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7" name="Google Shape;387;p26"/>
          <p:cNvSpPr/>
          <p:nvPr/>
        </p:nvSpPr>
        <p:spPr>
          <a:xfrm>
            <a:off x="3614384" y="1156173"/>
            <a:ext cx="1440300" cy="2466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700"/>
              <a:buFont typeface="Noto Sans"/>
              <a:buNone/>
            </a:pPr>
            <a:r>
              <a:rPr lang="ko" sz="700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정보 손실 없음</a:t>
            </a:r>
            <a:endParaRPr sz="7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8" name="Google Shape;388;p26"/>
          <p:cNvSpPr/>
          <p:nvPr/>
        </p:nvSpPr>
        <p:spPr>
          <a:xfrm>
            <a:off x="5054600" y="1156173"/>
            <a:ext cx="857400" cy="2466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6168"/>
              </a:buClr>
              <a:buSzPts val="700"/>
              <a:buFont typeface="Noto Sans"/>
              <a:buNone/>
            </a:pPr>
            <a:r>
              <a:rPr lang="ko" sz="700">
                <a:solidFill>
                  <a:srgbClr val="5F6168"/>
                </a:solidFill>
                <a:latin typeface="Noto Sans"/>
                <a:ea typeface="Noto Sans"/>
                <a:cs typeface="Noto Sans"/>
                <a:sym typeface="Noto Sans"/>
              </a:rPr>
              <a:t>비정상 패턴 학습 위험</a:t>
            </a:r>
            <a:endParaRPr sz="7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9" name="Google Shape;389;p26"/>
          <p:cNvSpPr/>
          <p:nvPr/>
        </p:nvSpPr>
        <p:spPr>
          <a:xfrm>
            <a:off x="665248" y="1460422"/>
            <a:ext cx="857400" cy="2466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800"/>
              <a:buFont typeface="Noto Sans"/>
              <a:buNone/>
            </a:pPr>
            <a:r>
              <a:rPr b="1" lang="ko" sz="800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Method 2</a:t>
            </a:r>
            <a:endParaRPr sz="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0" name="Google Shape;390;p26"/>
          <p:cNvSpPr/>
          <p:nvPr/>
        </p:nvSpPr>
        <p:spPr>
          <a:xfrm>
            <a:off x="1556932" y="1460424"/>
            <a:ext cx="2057400" cy="2466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700"/>
              <a:buFont typeface="Noto Sans"/>
              <a:buNone/>
            </a:pPr>
            <a:r>
              <a:rPr lang="ko" sz="700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구간 제거 / 절삭</a:t>
            </a:r>
            <a:endParaRPr sz="7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1" name="Google Shape;391;p26"/>
          <p:cNvSpPr/>
          <p:nvPr/>
        </p:nvSpPr>
        <p:spPr>
          <a:xfrm>
            <a:off x="3614384" y="1460424"/>
            <a:ext cx="1440300" cy="2466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700"/>
              <a:buFont typeface="Noto Sans"/>
              <a:buNone/>
            </a:pPr>
            <a:r>
              <a:rPr lang="ko" sz="700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노이즈 감소</a:t>
            </a:r>
            <a:endParaRPr sz="7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2" name="Google Shape;392;p26"/>
          <p:cNvSpPr/>
          <p:nvPr/>
        </p:nvSpPr>
        <p:spPr>
          <a:xfrm>
            <a:off x="5054600" y="1460424"/>
            <a:ext cx="857400" cy="2466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6168"/>
              </a:buClr>
              <a:buSzPts val="700"/>
              <a:buFont typeface="Noto Sans"/>
              <a:buNone/>
            </a:pPr>
            <a:r>
              <a:rPr lang="ko" sz="700">
                <a:solidFill>
                  <a:srgbClr val="5F6168"/>
                </a:solidFill>
                <a:latin typeface="Noto Sans"/>
                <a:ea typeface="Noto Sans"/>
                <a:cs typeface="Noto Sans"/>
                <a:sym typeface="Noto Sans"/>
              </a:rPr>
              <a:t>데이터 손실 큼</a:t>
            </a:r>
            <a:endParaRPr sz="7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3" name="Google Shape;393;p26"/>
          <p:cNvSpPr/>
          <p:nvPr/>
        </p:nvSpPr>
        <p:spPr>
          <a:xfrm>
            <a:off x="665373" y="1764678"/>
            <a:ext cx="857400" cy="2466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800"/>
              <a:buFont typeface="Noto Sans"/>
              <a:buNone/>
            </a:pPr>
            <a:r>
              <a:rPr b="1" lang="ko" sz="800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Method 3</a:t>
            </a:r>
            <a:endParaRPr sz="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4" name="Google Shape;394;p26"/>
          <p:cNvSpPr/>
          <p:nvPr/>
        </p:nvSpPr>
        <p:spPr>
          <a:xfrm>
            <a:off x="1556932" y="1764674"/>
            <a:ext cx="2057400" cy="2466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700"/>
              <a:buFont typeface="Noto Sans"/>
              <a:buNone/>
            </a:pPr>
            <a:r>
              <a:rPr lang="ko" sz="700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단순 평균 치환</a:t>
            </a:r>
            <a:endParaRPr sz="7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5" name="Google Shape;395;p26"/>
          <p:cNvSpPr/>
          <p:nvPr/>
        </p:nvSpPr>
        <p:spPr>
          <a:xfrm>
            <a:off x="3614384" y="1764674"/>
            <a:ext cx="1440300" cy="2466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700"/>
              <a:buFont typeface="Noto Sans"/>
              <a:buNone/>
            </a:pPr>
            <a:r>
              <a:rPr lang="ko" sz="700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구현 쉬움</a:t>
            </a:r>
            <a:endParaRPr sz="7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6" name="Google Shape;396;p26"/>
          <p:cNvSpPr/>
          <p:nvPr/>
        </p:nvSpPr>
        <p:spPr>
          <a:xfrm>
            <a:off x="5054600" y="1764674"/>
            <a:ext cx="857400" cy="2466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6168"/>
              </a:buClr>
              <a:buSzPts val="700"/>
              <a:buFont typeface="Noto Sans"/>
              <a:buNone/>
            </a:pPr>
            <a:r>
              <a:rPr lang="ko" sz="700">
                <a:solidFill>
                  <a:srgbClr val="5F6168"/>
                </a:solidFill>
                <a:latin typeface="Noto Sans"/>
                <a:ea typeface="Noto Sans"/>
                <a:cs typeface="Noto Sans"/>
                <a:sym typeface="Noto Sans"/>
              </a:rPr>
              <a:t>패턴 보존 부족</a:t>
            </a:r>
            <a:endParaRPr sz="7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7" name="Google Shape;397;p26"/>
          <p:cNvSpPr/>
          <p:nvPr/>
        </p:nvSpPr>
        <p:spPr>
          <a:xfrm>
            <a:off x="665248" y="2068920"/>
            <a:ext cx="857400" cy="246600"/>
          </a:xfrm>
          <a:prstGeom prst="roundRect">
            <a:avLst>
              <a:gd fmla="val 12500" name="adj"/>
            </a:avLst>
          </a:prstGeom>
          <a:solidFill>
            <a:srgbClr val="F6ECE9"/>
          </a:solidFill>
          <a:ln cap="flat" cmpd="sng" w="12700">
            <a:solidFill>
              <a:srgbClr val="E4B7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A61F1F"/>
              </a:buClr>
              <a:buSzPts val="800"/>
              <a:buFont typeface="Noto Sans"/>
              <a:buNone/>
            </a:pPr>
            <a:r>
              <a:rPr b="1" lang="ko" sz="800">
                <a:solidFill>
                  <a:srgbClr val="A61F1F"/>
                </a:solidFill>
                <a:latin typeface="Noto Sans"/>
                <a:ea typeface="Noto Sans"/>
                <a:cs typeface="Noto Sans"/>
                <a:sym typeface="Noto Sans"/>
              </a:rPr>
              <a:t>Method 4</a:t>
            </a:r>
            <a:endParaRPr sz="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8" name="Google Shape;398;p26"/>
          <p:cNvSpPr/>
          <p:nvPr/>
        </p:nvSpPr>
        <p:spPr>
          <a:xfrm>
            <a:off x="1556932" y="2068924"/>
            <a:ext cx="2057400" cy="246600"/>
          </a:xfrm>
          <a:prstGeom prst="roundRect">
            <a:avLst>
              <a:gd fmla="val 12500" name="adj"/>
            </a:avLst>
          </a:prstGeom>
          <a:solidFill>
            <a:srgbClr val="F6ECE9"/>
          </a:solidFill>
          <a:ln cap="flat" cmpd="sng" w="12700">
            <a:solidFill>
              <a:srgbClr val="E4B7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700"/>
              <a:buFont typeface="Noto Sans"/>
              <a:buNone/>
            </a:pPr>
            <a:r>
              <a:rPr lang="ko" sz="700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이동평균 + 요일 보정</a:t>
            </a:r>
            <a:endParaRPr sz="7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9" name="Google Shape;399;p26"/>
          <p:cNvSpPr/>
          <p:nvPr/>
        </p:nvSpPr>
        <p:spPr>
          <a:xfrm>
            <a:off x="3614384" y="2068924"/>
            <a:ext cx="1440300" cy="246600"/>
          </a:xfrm>
          <a:prstGeom prst="roundRect">
            <a:avLst>
              <a:gd fmla="val 12500" name="adj"/>
            </a:avLst>
          </a:prstGeom>
          <a:solidFill>
            <a:srgbClr val="F6ECE9"/>
          </a:solidFill>
          <a:ln cap="flat" cmpd="sng" w="12700">
            <a:solidFill>
              <a:srgbClr val="E4B7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700"/>
              <a:buFont typeface="Noto Sans"/>
              <a:buNone/>
            </a:pPr>
            <a:r>
              <a:rPr lang="ko" sz="700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정상 흐름 복원, 안정적</a:t>
            </a:r>
            <a:endParaRPr sz="7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0" name="Google Shape;400;p26"/>
          <p:cNvSpPr/>
          <p:nvPr/>
        </p:nvSpPr>
        <p:spPr>
          <a:xfrm>
            <a:off x="5054600" y="2068924"/>
            <a:ext cx="857400" cy="246600"/>
          </a:xfrm>
          <a:prstGeom prst="roundRect">
            <a:avLst>
              <a:gd fmla="val 12500" name="adj"/>
            </a:avLst>
          </a:prstGeom>
          <a:solidFill>
            <a:srgbClr val="F6ECE9"/>
          </a:solidFill>
          <a:ln cap="flat" cmpd="sng" w="12700">
            <a:solidFill>
              <a:srgbClr val="E4B7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6"/>
          <p:cNvSpPr/>
          <p:nvPr/>
        </p:nvSpPr>
        <p:spPr>
          <a:xfrm>
            <a:off x="665373" y="2373180"/>
            <a:ext cx="857400" cy="2466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800"/>
              <a:buFont typeface="Noto Sans"/>
              <a:buNone/>
            </a:pPr>
            <a:r>
              <a:rPr b="1" lang="ko" sz="800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Method 5</a:t>
            </a:r>
            <a:endParaRPr sz="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2" name="Google Shape;402;p26"/>
          <p:cNvSpPr/>
          <p:nvPr/>
        </p:nvSpPr>
        <p:spPr>
          <a:xfrm>
            <a:off x="1556932" y="2373175"/>
            <a:ext cx="2057400" cy="2466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700"/>
              <a:buFont typeface="Noto Sans"/>
              <a:buNone/>
            </a:pPr>
            <a:r>
              <a:rPr lang="ko" sz="700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원본 유지 + 급락 플래그</a:t>
            </a:r>
            <a:endParaRPr sz="7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3" name="Google Shape;403;p26"/>
          <p:cNvSpPr/>
          <p:nvPr/>
        </p:nvSpPr>
        <p:spPr>
          <a:xfrm>
            <a:off x="3614384" y="2373175"/>
            <a:ext cx="1440300" cy="2466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700"/>
              <a:buFont typeface="Noto Sans"/>
              <a:buNone/>
            </a:pPr>
            <a:r>
              <a:rPr lang="ko" sz="700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도메인 정보 직접 전달</a:t>
            </a:r>
            <a:endParaRPr sz="7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4" name="Google Shape;404;p26"/>
          <p:cNvSpPr/>
          <p:nvPr/>
        </p:nvSpPr>
        <p:spPr>
          <a:xfrm>
            <a:off x="5054600" y="2373175"/>
            <a:ext cx="857400" cy="2466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89B31"/>
              </a:buClr>
              <a:buSzPts val="700"/>
              <a:buFont typeface="Noto Sans"/>
              <a:buNone/>
            </a:pPr>
            <a:r>
              <a:rPr b="1" lang="ko" sz="700">
                <a:solidFill>
                  <a:srgbClr val="E89B31"/>
                </a:solidFill>
                <a:latin typeface="Noto Sans"/>
                <a:ea typeface="Noto Sans"/>
                <a:cs typeface="Noto Sans"/>
                <a:sym typeface="Noto Sans"/>
              </a:rPr>
              <a:t>초기 가설</a:t>
            </a:r>
            <a:endParaRPr sz="7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405" name="Google Shape;405;p26"/>
          <p:cNvCxnSpPr/>
          <p:nvPr/>
        </p:nvCxnSpPr>
        <p:spPr>
          <a:xfrm>
            <a:off x="240036" y="377190"/>
            <a:ext cx="8641200" cy="0"/>
          </a:xfrm>
          <a:prstGeom prst="straightConnector1">
            <a:avLst/>
          </a:prstGeom>
          <a:noFill/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6" name="Google Shape;406;p26"/>
          <p:cNvSpPr/>
          <p:nvPr/>
        </p:nvSpPr>
        <p:spPr>
          <a:xfrm>
            <a:off x="240048" y="123449"/>
            <a:ext cx="63975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1700"/>
              <a:buFont typeface="Noto Sans"/>
              <a:buNone/>
            </a:pPr>
            <a:r>
              <a:rPr b="1" i="0" lang="ko" sz="17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전처리 의사결정 — 급락 구간 처리 5가지와 최종 선택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7" name="Google Shape;407;p26"/>
          <p:cNvSpPr/>
          <p:nvPr/>
        </p:nvSpPr>
        <p:spPr>
          <a:xfrm>
            <a:off x="240036" y="336042"/>
            <a:ext cx="5760900" cy="1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D83"/>
              </a:buClr>
              <a:buSzPts val="600"/>
              <a:buFont typeface="Noto Sans"/>
              <a:buNone/>
            </a:pPr>
            <a:r>
              <a:rPr b="0" i="0" lang="ko" sz="600" u="none" cap="none" strike="noStrike">
                <a:solidFill>
                  <a:srgbClr val="7A7D83"/>
                </a:solidFill>
                <a:latin typeface="Noto Sans"/>
                <a:ea typeface="Noto Sans"/>
                <a:cs typeface="Noto Sans"/>
                <a:sym typeface="Noto Sans"/>
              </a:rPr>
              <a:t>핵심은 급락을 “강조할지, 복원할지”의 선택</a:t>
            </a:r>
            <a:endParaRPr b="0" i="0" sz="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8" name="Google Shape;408;p26"/>
          <p:cNvSpPr/>
          <p:nvPr/>
        </p:nvSpPr>
        <p:spPr>
          <a:xfrm>
            <a:off x="7612583" y="109728"/>
            <a:ext cx="1062900" cy="164700"/>
          </a:xfrm>
          <a:prstGeom prst="rect">
            <a:avLst/>
          </a:prstGeom>
          <a:solidFill>
            <a:srgbClr val="A61F1F"/>
          </a:solidFill>
          <a:ln cap="flat" cmpd="sng" w="12700">
            <a:solidFill>
              <a:srgbClr val="A6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6"/>
          <p:cNvSpPr/>
          <p:nvPr/>
        </p:nvSpPr>
        <p:spPr>
          <a:xfrm>
            <a:off x="7612583" y="116586"/>
            <a:ext cx="10629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Noto Sans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Part 2 · 전처리</a:t>
            </a:r>
            <a:endParaRPr b="0" i="0" sz="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0" name="Google Shape;410;p26"/>
          <p:cNvSpPr/>
          <p:nvPr/>
        </p:nvSpPr>
        <p:spPr>
          <a:xfrm>
            <a:off x="833925" y="938150"/>
            <a:ext cx="686100" cy="138000"/>
          </a:xfrm>
          <a:prstGeom prst="rect">
            <a:avLst/>
          </a:prstGeom>
          <a:solidFill>
            <a:srgbClr val="A61F1F"/>
          </a:solidFill>
          <a:ln cap="flat" cmpd="sng" w="12700">
            <a:solidFill>
              <a:srgbClr val="A6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600" lIns="68600" spcFirstLastPara="1" rIns="68600" wrap="square" tIns="68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Noto Sans"/>
              <a:buNone/>
            </a:pPr>
            <a:r>
              <a:rPr b="1" lang="ko" sz="7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방법</a:t>
            </a:r>
            <a:endParaRPr sz="7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1" name="Google Shape;411;p26"/>
          <p:cNvSpPr/>
          <p:nvPr/>
        </p:nvSpPr>
        <p:spPr>
          <a:xfrm>
            <a:off x="1554426" y="938150"/>
            <a:ext cx="2058600" cy="138000"/>
          </a:xfrm>
          <a:prstGeom prst="rect">
            <a:avLst/>
          </a:prstGeom>
          <a:solidFill>
            <a:srgbClr val="A61F1F"/>
          </a:solidFill>
          <a:ln cap="flat" cmpd="sng" w="12700">
            <a:solidFill>
              <a:srgbClr val="A6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600" lIns="68600" spcFirstLastPara="1" rIns="68600" wrap="square" tIns="68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Noto Sans"/>
              <a:buNone/>
            </a:pPr>
            <a:r>
              <a:rPr b="1" lang="ko" sz="7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아이디어</a:t>
            </a:r>
            <a:endParaRPr sz="7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2" name="Google Shape;412;p26"/>
          <p:cNvSpPr/>
          <p:nvPr/>
        </p:nvSpPr>
        <p:spPr>
          <a:xfrm>
            <a:off x="3612999" y="938150"/>
            <a:ext cx="1441200" cy="138000"/>
          </a:xfrm>
          <a:prstGeom prst="rect">
            <a:avLst/>
          </a:prstGeom>
          <a:solidFill>
            <a:srgbClr val="A61F1F"/>
          </a:solidFill>
          <a:ln cap="flat" cmpd="sng" w="12700">
            <a:solidFill>
              <a:srgbClr val="A6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600" lIns="68600" spcFirstLastPara="1" rIns="68600" wrap="square" tIns="68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Noto Sans"/>
              <a:buNone/>
            </a:pPr>
            <a:r>
              <a:rPr b="1" lang="ko" sz="7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장점</a:t>
            </a:r>
            <a:endParaRPr sz="7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3" name="Google Shape;413;p26"/>
          <p:cNvSpPr/>
          <p:nvPr/>
        </p:nvSpPr>
        <p:spPr>
          <a:xfrm>
            <a:off x="5054000" y="938150"/>
            <a:ext cx="858000" cy="138000"/>
          </a:xfrm>
          <a:prstGeom prst="rect">
            <a:avLst/>
          </a:prstGeom>
          <a:solidFill>
            <a:srgbClr val="A61F1F"/>
          </a:solidFill>
          <a:ln cap="flat" cmpd="sng" w="12700">
            <a:solidFill>
              <a:srgbClr val="A6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600" lIns="68600" spcFirstLastPara="1" rIns="68600" wrap="square" tIns="68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Noto Sans"/>
              <a:buNone/>
            </a:pPr>
            <a:r>
              <a:rPr b="1" lang="ko" sz="7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최종 판단</a:t>
            </a:r>
            <a:endParaRPr sz="7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4" name="Google Shape;414;p26"/>
          <p:cNvSpPr/>
          <p:nvPr/>
        </p:nvSpPr>
        <p:spPr>
          <a:xfrm>
            <a:off x="734081" y="1230830"/>
            <a:ext cx="720000" cy="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800"/>
              <a:buFont typeface="Noto Sans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5" name="Google Shape;415;p26"/>
          <p:cNvSpPr/>
          <p:nvPr/>
        </p:nvSpPr>
        <p:spPr>
          <a:xfrm>
            <a:off x="3483956" y="1186531"/>
            <a:ext cx="1330500" cy="1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700"/>
              <a:buFont typeface="Noto Sans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6" name="Google Shape;416;p26"/>
          <p:cNvSpPr/>
          <p:nvPr/>
        </p:nvSpPr>
        <p:spPr>
          <a:xfrm>
            <a:off x="4924175" y="1216062"/>
            <a:ext cx="685800" cy="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168"/>
              </a:buClr>
              <a:buSzPts val="700"/>
              <a:buFont typeface="Noto Sans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7" name="Google Shape;417;p26"/>
          <p:cNvSpPr/>
          <p:nvPr/>
        </p:nvSpPr>
        <p:spPr>
          <a:xfrm>
            <a:off x="734081" y="1619658"/>
            <a:ext cx="720000" cy="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800"/>
              <a:buFont typeface="Noto Sans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8" name="Google Shape;418;p26"/>
          <p:cNvSpPr/>
          <p:nvPr/>
        </p:nvSpPr>
        <p:spPr>
          <a:xfrm>
            <a:off x="1426500" y="1575359"/>
            <a:ext cx="1947600" cy="1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700"/>
              <a:buFont typeface="Noto Sans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9" name="Google Shape;419;p26"/>
          <p:cNvSpPr/>
          <p:nvPr/>
        </p:nvSpPr>
        <p:spPr>
          <a:xfrm>
            <a:off x="3483956" y="1575359"/>
            <a:ext cx="1330500" cy="1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700"/>
              <a:buFont typeface="Noto Sans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0" name="Google Shape;420;p26"/>
          <p:cNvSpPr/>
          <p:nvPr/>
        </p:nvSpPr>
        <p:spPr>
          <a:xfrm>
            <a:off x="4924175" y="1604890"/>
            <a:ext cx="685800" cy="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168"/>
              </a:buClr>
              <a:buSzPts val="700"/>
              <a:buFont typeface="Noto Sans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1" name="Google Shape;421;p26"/>
          <p:cNvSpPr/>
          <p:nvPr/>
        </p:nvSpPr>
        <p:spPr>
          <a:xfrm>
            <a:off x="734081" y="2008486"/>
            <a:ext cx="720000" cy="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800"/>
              <a:buFont typeface="Noto Sans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2" name="Google Shape;422;p26"/>
          <p:cNvSpPr/>
          <p:nvPr/>
        </p:nvSpPr>
        <p:spPr>
          <a:xfrm>
            <a:off x="1426500" y="1964187"/>
            <a:ext cx="1947600" cy="1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700"/>
              <a:buFont typeface="Noto Sans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3" name="Google Shape;423;p26"/>
          <p:cNvSpPr/>
          <p:nvPr/>
        </p:nvSpPr>
        <p:spPr>
          <a:xfrm>
            <a:off x="3483956" y="1964187"/>
            <a:ext cx="1330500" cy="1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700"/>
              <a:buFont typeface="Noto Sans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4" name="Google Shape;424;p26"/>
          <p:cNvSpPr/>
          <p:nvPr/>
        </p:nvSpPr>
        <p:spPr>
          <a:xfrm>
            <a:off x="4924175" y="1993718"/>
            <a:ext cx="685800" cy="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168"/>
              </a:buClr>
              <a:buSzPts val="700"/>
              <a:buFont typeface="Noto Sans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5" name="Google Shape;425;p26"/>
          <p:cNvSpPr/>
          <p:nvPr/>
        </p:nvSpPr>
        <p:spPr>
          <a:xfrm>
            <a:off x="734081" y="2397314"/>
            <a:ext cx="720000" cy="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1F1F"/>
              </a:buClr>
              <a:buSzPts val="800"/>
              <a:buFont typeface="Noto Sans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6" name="Google Shape;426;p26"/>
          <p:cNvSpPr/>
          <p:nvPr/>
        </p:nvSpPr>
        <p:spPr>
          <a:xfrm>
            <a:off x="1426500" y="2353014"/>
            <a:ext cx="1947600" cy="1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700"/>
              <a:buFont typeface="Noto Sans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7" name="Google Shape;427;p26"/>
          <p:cNvSpPr/>
          <p:nvPr/>
        </p:nvSpPr>
        <p:spPr>
          <a:xfrm>
            <a:off x="3483956" y="2353014"/>
            <a:ext cx="1330500" cy="1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700"/>
              <a:buFont typeface="Noto Sans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8" name="Google Shape;428;p26"/>
          <p:cNvSpPr/>
          <p:nvPr/>
        </p:nvSpPr>
        <p:spPr>
          <a:xfrm>
            <a:off x="5167645" y="2123272"/>
            <a:ext cx="617100" cy="138000"/>
          </a:xfrm>
          <a:prstGeom prst="rect">
            <a:avLst/>
          </a:prstGeom>
          <a:solidFill>
            <a:srgbClr val="C53A2E"/>
          </a:solidFill>
          <a:ln cap="flat" cmpd="sng" w="12700">
            <a:solidFill>
              <a:srgbClr val="C53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Noto Sans"/>
              <a:buNone/>
            </a:pPr>
            <a:r>
              <a:rPr b="1" lang="ko" sz="6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최종 선택</a:t>
            </a:r>
            <a:endParaRPr sz="6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9" name="Google Shape;429;p26"/>
          <p:cNvSpPr/>
          <p:nvPr/>
        </p:nvSpPr>
        <p:spPr>
          <a:xfrm>
            <a:off x="734083" y="3504443"/>
            <a:ext cx="7200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800"/>
              <a:buFont typeface="Noto Sans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0" name="Google Shape;430;p26"/>
          <p:cNvSpPr/>
          <p:nvPr/>
        </p:nvSpPr>
        <p:spPr>
          <a:xfrm>
            <a:off x="1426502" y="3442716"/>
            <a:ext cx="1947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700"/>
              <a:buFont typeface="Noto Sans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1" name="Google Shape;431;p26"/>
          <p:cNvSpPr/>
          <p:nvPr/>
        </p:nvSpPr>
        <p:spPr>
          <a:xfrm>
            <a:off x="3483957" y="3442716"/>
            <a:ext cx="1330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700"/>
              <a:buFont typeface="Noto Sans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2" name="Google Shape;432;p26"/>
          <p:cNvSpPr/>
          <p:nvPr/>
        </p:nvSpPr>
        <p:spPr>
          <a:xfrm>
            <a:off x="4924175" y="3483864"/>
            <a:ext cx="6858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9B31"/>
              </a:buClr>
              <a:buSzPts val="700"/>
              <a:buFont typeface="Noto Sans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3" name="Google Shape;433;p26"/>
          <p:cNvSpPr/>
          <p:nvPr/>
        </p:nvSpPr>
        <p:spPr>
          <a:xfrm>
            <a:off x="6138074" y="809244"/>
            <a:ext cx="2503200" cy="1494900"/>
          </a:xfrm>
          <a:prstGeom prst="roundRect">
            <a:avLst>
              <a:gd fmla="val 3670" name="adj"/>
            </a:avLst>
          </a:prstGeom>
          <a:solidFill>
            <a:srgbClr val="FFFFFF"/>
          </a:solidFill>
          <a:ln cap="flat" cmpd="sng" w="12700">
            <a:solidFill>
              <a:srgbClr val="E5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26"/>
          <p:cNvSpPr/>
          <p:nvPr/>
        </p:nvSpPr>
        <p:spPr>
          <a:xfrm>
            <a:off x="6275237" y="973836"/>
            <a:ext cx="2229000" cy="233100"/>
          </a:xfrm>
          <a:prstGeom prst="rect">
            <a:avLst/>
          </a:prstGeom>
          <a:solidFill>
            <a:srgbClr val="E89B31"/>
          </a:solidFill>
          <a:ln cap="flat" cmpd="sng" w="12700">
            <a:solidFill>
              <a:srgbClr val="E89B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6"/>
          <p:cNvSpPr/>
          <p:nvPr/>
        </p:nvSpPr>
        <p:spPr>
          <a:xfrm>
            <a:off x="6275237" y="987552"/>
            <a:ext cx="2229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Noto Sans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초기 판단: 왜 Method 5였나</a:t>
            </a:r>
            <a:endParaRPr b="0" i="0" sz="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6" name="Google Shape;436;p26"/>
          <p:cNvSpPr/>
          <p:nvPr/>
        </p:nvSpPr>
        <p:spPr>
          <a:xfrm>
            <a:off x="6295812" y="1337310"/>
            <a:ext cx="1029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9B31"/>
              </a:buClr>
              <a:buSzPts val="800"/>
              <a:buFont typeface="Noto Sans"/>
              <a:buNone/>
            </a:pPr>
            <a:r>
              <a:rPr b="1" i="0" lang="ko" sz="800" u="none" cap="none" strike="noStrike">
                <a:solidFill>
                  <a:srgbClr val="E89B31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7" name="Google Shape;437;p26"/>
          <p:cNvSpPr/>
          <p:nvPr/>
        </p:nvSpPr>
        <p:spPr>
          <a:xfrm>
            <a:off x="6419259" y="1337310"/>
            <a:ext cx="20025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800"/>
              <a:buFont typeface="Noto Sans"/>
              <a:buNone/>
            </a:pPr>
            <a:r>
              <a:rPr b="0" i="0" lang="ko" sz="8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급락 구간을 숨기기보다, </a:t>
            </a:r>
            <a:endParaRPr b="0" i="0" sz="800" u="none" cap="none" strike="noStrike">
              <a:solidFill>
                <a:srgbClr val="1B1C1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800"/>
              <a:buFont typeface="Noto Sans"/>
              <a:buNone/>
            </a:pPr>
            <a:r>
              <a:rPr b="0" i="0" lang="ko" sz="8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“이상 상황”임을 직접 알려주는 접근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8" name="Google Shape;438;p26"/>
          <p:cNvSpPr/>
          <p:nvPr/>
        </p:nvSpPr>
        <p:spPr>
          <a:xfrm>
            <a:off x="6295812" y="1663071"/>
            <a:ext cx="1029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9B31"/>
              </a:buClr>
              <a:buSzPts val="800"/>
              <a:buFont typeface="Noto Sans"/>
              <a:buNone/>
            </a:pPr>
            <a:r>
              <a:rPr b="1" i="0" lang="ko" sz="800" u="none" cap="none" strike="noStrike">
                <a:solidFill>
                  <a:srgbClr val="E89B31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9" name="Google Shape;439;p26"/>
          <p:cNvSpPr/>
          <p:nvPr/>
        </p:nvSpPr>
        <p:spPr>
          <a:xfrm>
            <a:off x="6419259" y="1663071"/>
            <a:ext cx="20025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800"/>
              <a:buFont typeface="Noto Sans"/>
              <a:buNone/>
            </a:pPr>
            <a:r>
              <a:rPr b="0" i="0" lang="ko" sz="8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가정이 적고 해석이 직관적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0" name="Google Shape;440;p26"/>
          <p:cNvSpPr/>
          <p:nvPr/>
        </p:nvSpPr>
        <p:spPr>
          <a:xfrm>
            <a:off x="6295812" y="1964881"/>
            <a:ext cx="1029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9B31"/>
              </a:buClr>
              <a:buSzPts val="800"/>
              <a:buFont typeface="Noto Sans"/>
              <a:buNone/>
            </a:pPr>
            <a:r>
              <a:rPr b="1" i="0" lang="ko" sz="800" u="none" cap="none" strike="noStrike">
                <a:solidFill>
                  <a:srgbClr val="E89B31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1" name="Google Shape;441;p26"/>
          <p:cNvSpPr/>
          <p:nvPr/>
        </p:nvSpPr>
        <p:spPr>
          <a:xfrm>
            <a:off x="6419259" y="1964881"/>
            <a:ext cx="20025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800"/>
              <a:buFont typeface="Noto Sans"/>
              <a:buNone/>
            </a:pPr>
            <a:r>
              <a:rPr b="0" i="0" lang="ko" sz="8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도메인 지식을 반영하기 쉬웠음</a:t>
            </a:r>
            <a:endParaRPr b="0" i="0" sz="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2" name="Google Shape;442;p26"/>
          <p:cNvSpPr/>
          <p:nvPr/>
        </p:nvSpPr>
        <p:spPr>
          <a:xfrm>
            <a:off x="6138074" y="2455164"/>
            <a:ext cx="2503200" cy="1748700"/>
          </a:xfrm>
          <a:prstGeom prst="roundRect">
            <a:avLst>
              <a:gd fmla="val 3137" name="adj"/>
            </a:avLst>
          </a:prstGeom>
          <a:solidFill>
            <a:srgbClr val="F7EFEA"/>
          </a:solidFill>
          <a:ln cap="flat" cmpd="sng" w="12700">
            <a:solidFill>
              <a:srgbClr val="E9C6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>
                <a:solidFill>
                  <a:srgbClr val="8B1A1A"/>
                </a:solidFill>
              </a:rPr>
              <a:t>결론</a:t>
            </a:r>
            <a:endParaRPr b="1">
              <a:solidFill>
                <a:srgbClr val="8B1A1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800"/>
              <a:buFont typeface="Noto Sans"/>
              <a:buNone/>
            </a:pPr>
            <a:r>
              <a:t/>
            </a:r>
            <a:endParaRPr sz="800">
              <a:solidFill>
                <a:srgbClr val="1B1C1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800"/>
              <a:buFont typeface="Noto Sans"/>
              <a:buNone/>
            </a:pPr>
            <a:r>
              <a:rPr lang="ko" sz="800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Method 5는 합리적인 출발점이었지만,</a:t>
            </a:r>
            <a:endParaRPr sz="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800"/>
              <a:buFont typeface="Noto Sans"/>
              <a:buNone/>
            </a:pPr>
            <a:r>
              <a:rPr lang="ko" sz="800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PSFA 기준 일반화에는 불리했다.</a:t>
            </a:r>
            <a:endParaRPr sz="800">
              <a:solidFill>
                <a:srgbClr val="1B1C1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800"/>
              <a:buFont typeface="Noto Sans"/>
              <a:buNone/>
            </a:pPr>
            <a:r>
              <a:t/>
            </a:r>
            <a:endParaRPr sz="800">
              <a:solidFill>
                <a:srgbClr val="1B1C1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800"/>
              <a:buFont typeface="Noto Sans"/>
              <a:buNone/>
            </a:pPr>
            <a:r>
              <a:rPr lang="ko" sz="800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그래서 최종적으로는 “급락을 플래그로 강조”하기보다</a:t>
            </a:r>
            <a:endParaRPr sz="800">
              <a:solidFill>
                <a:srgbClr val="1B1C1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800"/>
              <a:buFont typeface="Noto Sans"/>
              <a:buNone/>
            </a:pPr>
            <a:r>
              <a:rPr lang="ko" sz="800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“정상 흐름으로 복원”하는 </a:t>
            </a:r>
            <a:r>
              <a:rPr b="1" lang="ko" sz="800">
                <a:solidFill>
                  <a:srgbClr val="8B1A1A"/>
                </a:solidFill>
                <a:latin typeface="Noto Sans"/>
                <a:ea typeface="Noto Sans"/>
                <a:cs typeface="Noto Sans"/>
                <a:sym typeface="Noto Sans"/>
              </a:rPr>
              <a:t>Method 4를 선택</a:t>
            </a:r>
            <a:r>
              <a:rPr lang="ko" sz="800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했다.</a:t>
            </a:r>
            <a:endParaRPr sz="800">
              <a:solidFill>
                <a:srgbClr val="1B1C1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443" name="Google Shape;44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373" y="2741875"/>
            <a:ext cx="5201254" cy="2134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26"/>
          <p:cNvSpPr/>
          <p:nvPr/>
        </p:nvSpPr>
        <p:spPr>
          <a:xfrm>
            <a:off x="6138075" y="4354901"/>
            <a:ext cx="2503200" cy="682200"/>
          </a:xfrm>
          <a:prstGeom prst="roundRect">
            <a:avLst>
              <a:gd fmla="val 3137" name="adj"/>
            </a:avLst>
          </a:prstGeom>
          <a:solidFill>
            <a:srgbClr val="F7EFEA"/>
          </a:solidFill>
          <a:ln cap="flat" cmpd="sng" w="12700">
            <a:solidFill>
              <a:srgbClr val="E9C6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>
                <a:solidFill>
                  <a:srgbClr val="8B1A1A"/>
                </a:solidFill>
              </a:rPr>
              <a:t>실험 순서</a:t>
            </a:r>
            <a:endParaRPr b="1">
              <a:solidFill>
                <a:srgbClr val="8B1A1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chemeClr val="dk1"/>
                </a:solidFill>
              </a:rPr>
              <a:t>METHOD =  5 → 에폭 비교 → METHOD = 4</a:t>
            </a:r>
            <a:endParaRPr sz="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F7F5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27"/>
          <p:cNvSpPr/>
          <p:nvPr/>
        </p:nvSpPr>
        <p:spPr>
          <a:xfrm>
            <a:off x="240048" y="123449"/>
            <a:ext cx="63975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C1E"/>
              </a:buClr>
              <a:buSzPts val="1700"/>
              <a:buFont typeface="Noto Sans"/>
              <a:buNone/>
            </a:pPr>
            <a:r>
              <a:rPr b="1" i="0" lang="ko" sz="1700" u="none" cap="none" strike="noStrike">
                <a:solidFill>
                  <a:srgbClr val="1B1C1E"/>
                </a:solidFill>
                <a:latin typeface="Noto Sans"/>
                <a:ea typeface="Noto Sans"/>
                <a:cs typeface="Noto Sans"/>
                <a:sym typeface="Noto Sans"/>
              </a:rPr>
              <a:t>전처리 의사결정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1" name="Google Shape;451;p27"/>
          <p:cNvSpPr/>
          <p:nvPr/>
        </p:nvSpPr>
        <p:spPr>
          <a:xfrm>
            <a:off x="7612583" y="109728"/>
            <a:ext cx="1062900" cy="164700"/>
          </a:xfrm>
          <a:prstGeom prst="rect">
            <a:avLst/>
          </a:prstGeom>
          <a:solidFill>
            <a:srgbClr val="A61F1F"/>
          </a:solidFill>
          <a:ln cap="flat" cmpd="sng" w="12700">
            <a:solidFill>
              <a:srgbClr val="A6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27"/>
          <p:cNvSpPr/>
          <p:nvPr/>
        </p:nvSpPr>
        <p:spPr>
          <a:xfrm>
            <a:off x="7612583" y="116586"/>
            <a:ext cx="10629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Noto Sans"/>
              <a:buNone/>
            </a:pPr>
            <a:r>
              <a:rPr b="1" i="0" lang="ko" sz="6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Part 2 · 전처리</a:t>
            </a:r>
            <a:endParaRPr b="0" i="0" sz="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3" name="Google Shape;453;p27"/>
          <p:cNvSpPr/>
          <p:nvPr/>
        </p:nvSpPr>
        <p:spPr>
          <a:xfrm>
            <a:off x="338977" y="446670"/>
            <a:ext cx="685800" cy="192000"/>
          </a:xfrm>
          <a:prstGeom prst="rect">
            <a:avLst/>
          </a:prstGeom>
          <a:solidFill>
            <a:srgbClr val="A61F1F"/>
          </a:solidFill>
          <a:ln cap="flat" cmpd="sng" w="12700">
            <a:solidFill>
              <a:srgbClr val="A6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7"/>
          <p:cNvSpPr/>
          <p:nvPr/>
        </p:nvSpPr>
        <p:spPr>
          <a:xfrm>
            <a:off x="352694" y="474102"/>
            <a:ext cx="6585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Noto Sans"/>
              <a:buNone/>
            </a:pPr>
            <a:r>
              <a:rPr b="1" lang="ko" sz="7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단가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455" name="Google Shape;45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969" y="748000"/>
            <a:ext cx="3981724" cy="2154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27"/>
          <p:cNvSpPr/>
          <p:nvPr/>
        </p:nvSpPr>
        <p:spPr>
          <a:xfrm>
            <a:off x="339052" y="2982959"/>
            <a:ext cx="685800" cy="192000"/>
          </a:xfrm>
          <a:prstGeom prst="rect">
            <a:avLst/>
          </a:prstGeom>
          <a:solidFill>
            <a:srgbClr val="A61F1F"/>
          </a:solidFill>
          <a:ln cap="flat" cmpd="sng" w="12700">
            <a:solidFill>
              <a:srgbClr val="A6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27"/>
          <p:cNvSpPr/>
          <p:nvPr/>
        </p:nvSpPr>
        <p:spPr>
          <a:xfrm>
            <a:off x="352769" y="3018840"/>
            <a:ext cx="6585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Noto Sans"/>
              <a:buNone/>
            </a:pPr>
            <a:r>
              <a:rPr b="1" lang="ko" sz="700">
                <a:solidFill>
                  <a:schemeClr val="lt1"/>
                </a:solidFill>
              </a:rPr>
              <a:t>Wide → Long 변환</a:t>
            </a:r>
            <a:endParaRPr b="0" i="0" sz="700" u="none" cap="none" strike="noStrike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458" name="Google Shape;45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6025" y="3308425"/>
            <a:ext cx="8451950" cy="163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11800" y="671775"/>
            <a:ext cx="2797463" cy="230705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27"/>
          <p:cNvSpPr/>
          <p:nvPr/>
        </p:nvSpPr>
        <p:spPr>
          <a:xfrm>
            <a:off x="5311802" y="439745"/>
            <a:ext cx="685800" cy="192000"/>
          </a:xfrm>
          <a:prstGeom prst="rect">
            <a:avLst/>
          </a:prstGeom>
          <a:solidFill>
            <a:srgbClr val="A61F1F"/>
          </a:solidFill>
          <a:ln cap="flat" cmpd="sng" w="12700">
            <a:solidFill>
              <a:srgbClr val="A6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7"/>
          <p:cNvSpPr/>
          <p:nvPr/>
        </p:nvSpPr>
        <p:spPr>
          <a:xfrm>
            <a:off x="5325519" y="467177"/>
            <a:ext cx="6585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Noto Sans"/>
              <a:buNone/>
            </a:pPr>
            <a:r>
              <a:rPr b="1" lang="ko" sz="700">
                <a:solidFill>
                  <a:schemeClr val="lt1"/>
                </a:solidFill>
              </a:rPr>
              <a:t>브랜드 검색량 병합</a:t>
            </a:r>
            <a:endParaRPr b="0" i="0" sz="700" u="none" cap="none" strike="noStrike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8"/>
          <p:cNvSpPr/>
          <p:nvPr/>
        </p:nvSpPr>
        <p:spPr>
          <a:xfrm>
            <a:off x="2113850" y="2129400"/>
            <a:ext cx="4786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Arial Black"/>
              <a:buNone/>
            </a:pPr>
            <a:r>
              <a:rPr lang="ko" sz="2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특성공학 및 모델링 - 양동녕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" name="Google Shape;47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200" y="191300"/>
            <a:ext cx="780376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0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/>
              <a:t>특성공학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477" name="Google Shape;477;p30"/>
          <p:cNvSpPr txBox="1"/>
          <p:nvPr/>
        </p:nvSpPr>
        <p:spPr>
          <a:xfrm>
            <a:off x="362575" y="1314075"/>
            <a:ext cx="8244000" cy="3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log1p </a:t>
            </a:r>
            <a:r>
              <a:rPr lang="ko"/>
              <a:t>변환 : qty(판매량) → qty_log 컬럼 생성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Long Tail 모양의 극단적 불균형 데이터를 종 모양 데이터로 변환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균등화시킨 데이터를 학습시키기 위함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8" name="Google Shape;47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575" y="2175750"/>
            <a:ext cx="3397301" cy="258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/>
              <a:t>특성공학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484" name="Google Shape;484;p31"/>
          <p:cNvSpPr txBox="1"/>
          <p:nvPr/>
        </p:nvSpPr>
        <p:spPr>
          <a:xfrm>
            <a:off x="427450" y="1346525"/>
            <a:ext cx="8244000" cy="3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날짜 피처 : day_of_week, month, quarter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요일 (0~6)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월별 (1~12)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분기 (1~4)</a:t>
            </a:r>
            <a:endParaRPr/>
          </a:p>
        </p:txBody>
      </p:sp>
      <p:pic>
        <p:nvPicPr>
          <p:cNvPr id="485" name="Google Shape;48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525" y="2415328"/>
            <a:ext cx="5495597" cy="231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2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/>
              <a:t>특성공학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491" name="Google Shape;491;p32"/>
          <p:cNvSpPr txBox="1"/>
          <p:nvPr/>
        </p:nvSpPr>
        <p:spPr>
          <a:xfrm>
            <a:off x="427450" y="1346525"/>
            <a:ext cx="8244000" cy="3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공휴일 피처 : is_holiday, days_to_holiday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오늘이 공휴일인가? (0/1)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가장 가까운 공휴일까지 며칠 남았는가? (0, 1, 2, …)</a:t>
            </a:r>
            <a:endParaRPr/>
          </a:p>
        </p:txBody>
      </p:sp>
      <p:pic>
        <p:nvPicPr>
          <p:cNvPr id="492" name="Google Shape;49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458" y="2289033"/>
            <a:ext cx="7459176" cy="215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3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/>
              <a:t>특성공학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498" name="Google Shape;498;p33"/>
          <p:cNvSpPr txBox="1"/>
          <p:nvPr/>
        </p:nvSpPr>
        <p:spPr>
          <a:xfrm>
            <a:off x="427450" y="1346525"/>
            <a:ext cx="8244000" cy="3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Lag </a:t>
            </a:r>
            <a:r>
              <a:rPr lang="ko"/>
              <a:t>피처 : lag_1, lag_7 → 과거 특정 시점의 값으로 판매량 예측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1일 전의 log 판매량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7일 전의 log 판매량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9" name="Google Shape;49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454" y="2329625"/>
            <a:ext cx="8057975" cy="187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4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/>
              <a:t>특성공학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505" name="Google Shape;505;p34"/>
          <p:cNvSpPr txBox="1"/>
          <p:nvPr/>
        </p:nvSpPr>
        <p:spPr>
          <a:xfrm>
            <a:off x="427450" y="1346525"/>
            <a:ext cx="8244000" cy="3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Rolling 피처 : rolling_7_mean, rolling_30_mean → 과거 N일간의 평균적인 흐름으로 판매량 예측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7일 이동평균 </a:t>
            </a:r>
            <a:r>
              <a:rPr lang="ko">
                <a:solidFill>
                  <a:schemeClr val="dk1"/>
                </a:solidFill>
              </a:rPr>
              <a:t>→ 단기적인 노이즈 제거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30일 이동평균 </a:t>
            </a:r>
            <a:r>
              <a:rPr lang="ko">
                <a:solidFill>
                  <a:schemeClr val="dk1"/>
                </a:solidFill>
              </a:rPr>
              <a:t>→ 중기적인 노이즈 제거</a:t>
            </a:r>
            <a:endParaRPr/>
          </a:p>
        </p:txBody>
      </p:sp>
      <p:pic>
        <p:nvPicPr>
          <p:cNvPr id="506" name="Google Shape;50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626" y="2275600"/>
            <a:ext cx="7840699" cy="218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5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/>
              <a:t>특성공학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512" name="Google Shape;512;p35"/>
          <p:cNvSpPr txBox="1"/>
          <p:nvPr/>
        </p:nvSpPr>
        <p:spPr>
          <a:xfrm>
            <a:off x="427450" y="1346525"/>
            <a:ext cx="8244000" cy="3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NaN 처리 + 피처 목록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Lag/Rolling 피처에서 발생한 NaN을 0으로 채움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최종 피처 목록 확인</a:t>
            </a:r>
            <a:endParaRPr/>
          </a:p>
        </p:txBody>
      </p:sp>
      <p:pic>
        <p:nvPicPr>
          <p:cNvPr id="513" name="Google Shape;51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450" y="2381637"/>
            <a:ext cx="7408925" cy="232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6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/>
              <a:t>특성공학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519" name="Google Shape;519;p36"/>
          <p:cNvSpPr txBox="1"/>
          <p:nvPr/>
        </p:nvSpPr>
        <p:spPr>
          <a:xfrm>
            <a:off x="427450" y="1346525"/>
            <a:ext cx="8244000" cy="3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Train / Validation 분리 : 시계열 시간순 분할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데이콘 test 21일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학습 데이터의 마지막 21일을 Validation 분리</a:t>
            </a:r>
            <a:endParaRPr/>
          </a:p>
        </p:txBody>
      </p:sp>
      <p:pic>
        <p:nvPicPr>
          <p:cNvPr id="520" name="Google Shape;52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450" y="2205544"/>
            <a:ext cx="3673475" cy="2526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7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/>
              <a:t>모델링 시 가장 먼저 고려되었던 정보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526" name="Google Shape;526;p37"/>
          <p:cNvSpPr txBox="1"/>
          <p:nvPr/>
        </p:nvSpPr>
        <p:spPr>
          <a:xfrm>
            <a:off x="427450" y="1346525"/>
            <a:ext cx="8244000" cy="3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급락구간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>
                <a:solidFill>
                  <a:schemeClr val="dk1"/>
                </a:solidFill>
              </a:rPr>
              <a:t>급락 구간 일평균 / 정상 구간 일평균(</a:t>
            </a:r>
            <a:r>
              <a:rPr lang="ko"/>
              <a:t>급락 비율) : 16.2%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급락 기간 : 2023-02-20 ~ 2023-04-04 (44일)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7" name="Google Shape;52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750" y="2662525"/>
            <a:ext cx="8839199" cy="23611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8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>
                <a:solidFill>
                  <a:srgbClr val="000000"/>
                </a:solidFill>
              </a:rPr>
              <a:t>모델링 </a:t>
            </a:r>
            <a:r>
              <a:rPr lang="ko" sz="2800"/>
              <a:t>성능 평가 기준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533" name="Google Shape;533;p38"/>
          <p:cNvSpPr txBox="1"/>
          <p:nvPr/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</a:rPr>
              <a:t>팀이 선택한 모델링 성능 평가 기준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1800"/>
              <a:buChar char="-"/>
            </a:pPr>
            <a:r>
              <a:rPr lang="ko" sz="1800">
                <a:solidFill>
                  <a:srgbClr val="434343"/>
                </a:solidFill>
              </a:rPr>
              <a:t>평균 제곱근 오차(RMSE) : 오차를 </a:t>
            </a:r>
            <a:r>
              <a:rPr b="1" lang="ko" sz="1800">
                <a:solidFill>
                  <a:srgbClr val="434343"/>
                </a:solidFill>
              </a:rPr>
              <a:t>제곱</a:t>
            </a:r>
            <a:r>
              <a:rPr lang="ko" sz="1800">
                <a:solidFill>
                  <a:srgbClr val="434343"/>
                </a:solidFill>
              </a:rPr>
              <a:t>해서 평균을 낸 값(MSE)을 </a:t>
            </a:r>
            <a:r>
              <a:rPr b="1" lang="ko" sz="1800">
                <a:solidFill>
                  <a:srgbClr val="434343"/>
                </a:solidFill>
              </a:rPr>
              <a:t>루트</a:t>
            </a:r>
            <a:r>
              <a:rPr lang="ko" sz="1800">
                <a:solidFill>
                  <a:srgbClr val="434343"/>
                </a:solidFill>
              </a:rPr>
              <a:t> 씌운 값</a:t>
            </a:r>
            <a:endParaRPr sz="1800">
              <a:solidFill>
                <a:srgbClr val="434343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1800"/>
              <a:buChar char="-"/>
            </a:pPr>
            <a:r>
              <a:rPr lang="ko" sz="1800">
                <a:solidFill>
                  <a:srgbClr val="434343"/>
                </a:solidFill>
              </a:rPr>
              <a:t>평균 절대 오차(MAE) : 예측값과 실제값 사이의 </a:t>
            </a:r>
            <a:r>
              <a:rPr b="1" lang="ko" sz="1800">
                <a:solidFill>
                  <a:srgbClr val="434343"/>
                </a:solidFill>
              </a:rPr>
              <a:t>차이(오차)의 절대값을 모두 더해 평균</a:t>
            </a:r>
            <a:r>
              <a:rPr lang="ko" sz="1800">
                <a:solidFill>
                  <a:srgbClr val="434343"/>
                </a:solidFill>
              </a:rPr>
              <a:t> 낸 값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9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>
                <a:solidFill>
                  <a:srgbClr val="000000"/>
                </a:solidFill>
              </a:rPr>
              <a:t>모델링 </a:t>
            </a:r>
            <a:r>
              <a:rPr lang="ko" sz="2800"/>
              <a:t>성능 평가 기준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539" name="Google Shape;539;p39"/>
          <p:cNvSpPr txBox="1"/>
          <p:nvPr/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chemeClr val="dk1"/>
                </a:solidFill>
              </a:rPr>
              <a:t>데이콘의 모델링 성능 평가 기준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1800"/>
              <a:buChar char="-"/>
            </a:pPr>
            <a:r>
              <a:rPr lang="ko" sz="1800">
                <a:solidFill>
                  <a:srgbClr val="434343"/>
                </a:solidFill>
              </a:rPr>
              <a:t>PSFA : 정확도 x (1 - 편향)</a:t>
            </a:r>
            <a:endParaRPr sz="1800">
              <a:solidFill>
                <a:srgbClr val="434343"/>
              </a:solidFill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ko" sz="1800">
                <a:solidFill>
                  <a:srgbClr val="434343"/>
                </a:solidFill>
              </a:rPr>
              <a:t> 정확도 : 예측한 정체 수량과 실제 수량이 얼마나 일치하는지를 나타냄 (1 - 오차율)</a:t>
            </a:r>
            <a:endParaRPr sz="1800">
              <a:solidFill>
                <a:srgbClr val="434343"/>
              </a:solidFill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ko" sz="1800">
                <a:solidFill>
                  <a:srgbClr val="434343"/>
                </a:solidFill>
              </a:rPr>
              <a:t> 편향 : 특정 방향으로 예측이 쏠려있는지를 </a:t>
            </a:r>
            <a:r>
              <a:rPr lang="ko" sz="1800">
                <a:solidFill>
                  <a:srgbClr val="434343"/>
                </a:solidFill>
              </a:rPr>
              <a:t>나타내는 값</a:t>
            </a:r>
            <a:r>
              <a:rPr lang="ko" sz="1800">
                <a:solidFill>
                  <a:srgbClr val="434343"/>
                </a:solidFill>
              </a:rPr>
              <a:t>(0~1). 과대 예측이나 과소 예측이 심할수록 감점 요인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40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/>
              <a:t>방법5에서 사용한 </a:t>
            </a:r>
            <a:r>
              <a:rPr lang="ko" sz="2800">
                <a:solidFill>
                  <a:srgbClr val="000000"/>
                </a:solidFill>
              </a:rPr>
              <a:t>모델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545" name="Google Shape;545;p40"/>
          <p:cNvSpPr txBox="1"/>
          <p:nvPr/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-"/>
            </a:pPr>
            <a:r>
              <a:rPr lang="ko" sz="1800">
                <a:solidFill>
                  <a:srgbClr val="595959"/>
                </a:solidFill>
              </a:rPr>
              <a:t>LSTM Baseline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-"/>
            </a:pPr>
            <a:r>
              <a:rPr lang="ko" sz="1800">
                <a:solidFill>
                  <a:srgbClr val="595959"/>
                </a:solidFill>
              </a:rPr>
              <a:t>LSTM + 전체 피처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-"/>
            </a:pPr>
            <a:r>
              <a:rPr lang="ko" sz="1800">
                <a:solidFill>
                  <a:srgbClr val="595959"/>
                </a:solidFill>
              </a:rPr>
              <a:t>GRU + 전체 피처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-"/>
            </a:pPr>
            <a:r>
              <a:rPr lang="ko" sz="1800">
                <a:solidFill>
                  <a:srgbClr val="595959"/>
                </a:solidFill>
              </a:rPr>
              <a:t>LightGBM 요일별 글로벌 모델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-"/>
            </a:pPr>
            <a:r>
              <a:rPr lang="ko" sz="1800">
                <a:solidFill>
                  <a:srgbClr val="595959"/>
                </a:solidFill>
              </a:rPr>
              <a:t>LSTM + Attention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-"/>
            </a:pPr>
            <a:r>
              <a:rPr lang="ko" sz="1800">
                <a:solidFill>
                  <a:srgbClr val="595959"/>
                </a:solidFill>
              </a:rPr>
              <a:t>N-Hits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-"/>
            </a:pPr>
            <a:r>
              <a:rPr lang="ko" sz="1800">
                <a:solidFill>
                  <a:srgbClr val="595959"/>
                </a:solidFill>
              </a:rPr>
              <a:t>Simplified TFT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595959"/>
                </a:solidFill>
              </a:rPr>
              <a:t>학습은 Quick (n_epochs=20, batch=512) 로 동일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rgbClr val="595959"/>
                </a:solidFill>
              </a:rPr>
              <a:t>학습 목표 : 성능 비교 및 최대한 많은 모델들의 장점을 앙상블하기 위함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4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>
                <a:solidFill>
                  <a:srgbClr val="000000"/>
                </a:solidFill>
              </a:rPr>
              <a:t>모델 </a:t>
            </a:r>
            <a:r>
              <a:rPr lang="ko" sz="2800"/>
              <a:t>성능 비교</a:t>
            </a:r>
            <a:endParaRPr sz="2800">
              <a:solidFill>
                <a:srgbClr val="000000"/>
              </a:solidFill>
            </a:endParaRPr>
          </a:p>
        </p:txBody>
      </p:sp>
      <p:pic>
        <p:nvPicPr>
          <p:cNvPr id="551" name="Google Shape;55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975" y="1213925"/>
            <a:ext cx="4393025" cy="2856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8025" y="1213925"/>
            <a:ext cx="4393025" cy="2830064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1"/>
          <p:cNvSpPr/>
          <p:nvPr/>
        </p:nvSpPr>
        <p:spPr>
          <a:xfrm>
            <a:off x="466825" y="1471875"/>
            <a:ext cx="564000" cy="283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41"/>
          <p:cNvSpPr/>
          <p:nvPr/>
        </p:nvSpPr>
        <p:spPr>
          <a:xfrm>
            <a:off x="4880625" y="1471875"/>
            <a:ext cx="564000" cy="283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41"/>
          <p:cNvSpPr/>
          <p:nvPr/>
        </p:nvSpPr>
        <p:spPr>
          <a:xfrm>
            <a:off x="411650" y="2162625"/>
            <a:ext cx="619200" cy="283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41"/>
          <p:cNvSpPr/>
          <p:nvPr/>
        </p:nvSpPr>
        <p:spPr>
          <a:xfrm>
            <a:off x="4825425" y="2120450"/>
            <a:ext cx="619200" cy="283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41"/>
          <p:cNvSpPr/>
          <p:nvPr/>
        </p:nvSpPr>
        <p:spPr>
          <a:xfrm>
            <a:off x="411650" y="3135475"/>
            <a:ext cx="619200" cy="283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41"/>
          <p:cNvSpPr/>
          <p:nvPr/>
        </p:nvSpPr>
        <p:spPr>
          <a:xfrm>
            <a:off x="4799450" y="3135475"/>
            <a:ext cx="619200" cy="283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" name="Google Shape;56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96675"/>
            <a:ext cx="8839200" cy="62174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42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>
                <a:solidFill>
                  <a:srgbClr val="000000"/>
                </a:solidFill>
              </a:rPr>
              <a:t>모델 </a:t>
            </a:r>
            <a:r>
              <a:rPr lang="ko" sz="2800"/>
              <a:t>실제 </a:t>
            </a:r>
            <a:r>
              <a:rPr lang="ko" sz="2800"/>
              <a:t>성능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565" name="Google Shape;565;p42"/>
          <p:cNvSpPr txBox="1"/>
          <p:nvPr/>
        </p:nvSpPr>
        <p:spPr>
          <a:xfrm>
            <a:off x="152400" y="1956225"/>
            <a:ext cx="8679900" cy="26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595959"/>
                </a:solidFill>
              </a:rPr>
              <a:t>Public : 0.032 / Private : 0.033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800"/>
              <a:buChar char="-"/>
            </a:pPr>
            <a:r>
              <a:rPr lang="ko" sz="1800">
                <a:solidFill>
                  <a:srgbClr val="595959"/>
                </a:solidFill>
              </a:rPr>
              <a:t>점수가 낮게 나온 이유?</a:t>
            </a:r>
            <a:endParaRPr sz="1800">
              <a:solidFill>
                <a:srgbClr val="595959"/>
              </a:solidFill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ko" sz="1800">
                <a:solidFill>
                  <a:srgbClr val="595959"/>
                </a:solidFill>
              </a:rPr>
              <a:t>이상치인 급락구간을 </a:t>
            </a:r>
            <a:r>
              <a:rPr lang="ko" sz="1800">
                <a:solidFill>
                  <a:srgbClr val="595959"/>
                </a:solidFill>
              </a:rPr>
              <a:t>학습하는 모델링 방법5가 가장 큰 이유,</a:t>
            </a:r>
            <a:endParaRPr sz="1800">
              <a:solidFill>
                <a:srgbClr val="595959"/>
              </a:solidFill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ko" sz="1800">
                <a:solidFill>
                  <a:srgbClr val="595959"/>
                </a:solidFill>
              </a:rPr>
              <a:t>당시에는 사용한 모델의 구조적 문제라고 오판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43"/>
          <p:cNvSpPr txBox="1"/>
          <p:nvPr/>
        </p:nvSpPr>
        <p:spPr>
          <a:xfrm>
            <a:off x="641500" y="1177875"/>
            <a:ext cx="7569300" cy="27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LightGBM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ko"/>
              <a:t>정형 데이터 예측에 강력한 성능을 보이므로 베이스 라인으로 설정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ko"/>
              <a:t>범주형 변수를 효율적으로 처리하고 빠른 학습 속도를 보여줌.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ko"/>
              <a:t>하지만, 시계열 데이터가 가진 복잡한 장기 의존성을 파악하는 데는 힘듬.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딥러닝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ko"/>
              <a:t>이를 보완하기 위해 데이터의 연속성과 복잡한 비선형 관계를 학습할 수 있는 딥러닝 모델 사용하여 학습 진행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ko"/>
              <a:t>학습 후 앙상블 진행</a:t>
            </a:r>
            <a:endParaRPr/>
          </a:p>
        </p:txBody>
      </p:sp>
      <p:sp>
        <p:nvSpPr>
          <p:cNvPr id="571" name="Google Shape;571;p43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>
                <a:solidFill>
                  <a:srgbClr val="000000"/>
                </a:solidFill>
              </a:rPr>
              <a:t>모델링 개선 방안 모색</a:t>
            </a:r>
            <a:endParaRPr sz="2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4"/>
          <p:cNvSpPr/>
          <p:nvPr/>
        </p:nvSpPr>
        <p:spPr>
          <a:xfrm>
            <a:off x="548640" y="2743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Arial Black"/>
              <a:buNone/>
            </a:pPr>
            <a:r>
              <a:rPr lang="ko" sz="2800">
                <a:solidFill>
                  <a:srgbClr val="1A1A1A"/>
                </a:solidFill>
                <a:latin typeface="Arial Black"/>
                <a:ea typeface="Arial Black"/>
                <a:cs typeface="Arial Black"/>
                <a:sym typeface="Arial Black"/>
              </a:rPr>
              <a:t>Epoch 수에 따른 RMSE, MAE 그래프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7" name="Google Shape;57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4025" y="1066920"/>
            <a:ext cx="4367575" cy="3454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825" y="1160057"/>
            <a:ext cx="4319224" cy="3268086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44"/>
          <p:cNvSpPr txBox="1"/>
          <p:nvPr/>
        </p:nvSpPr>
        <p:spPr>
          <a:xfrm>
            <a:off x="1744125" y="4583125"/>
            <a:ext cx="5013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40 ~ 50 Epoch</a:t>
            </a:r>
            <a:r>
              <a:rPr lang="ko"/>
              <a:t>의 Public/Private 점수가 가장 높을 것으로 예상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45"/>
          <p:cNvSpPr/>
          <p:nvPr/>
        </p:nvSpPr>
        <p:spPr>
          <a:xfrm>
            <a:off x="548640" y="2743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Arial Black"/>
              <a:buNone/>
            </a:pPr>
            <a:r>
              <a:rPr lang="ko" sz="2800">
                <a:solidFill>
                  <a:srgbClr val="1A1A1A"/>
                </a:solidFill>
                <a:latin typeface="Arial Black"/>
                <a:ea typeface="Arial Black"/>
                <a:cs typeface="Arial Black"/>
                <a:sym typeface="Arial Black"/>
              </a:rPr>
              <a:t>Epoch 수에 따른 Public &amp; Private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5" name="Google Shape;58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945475"/>
            <a:ext cx="6029524" cy="4019675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45"/>
          <p:cNvSpPr txBox="1"/>
          <p:nvPr/>
        </p:nvSpPr>
        <p:spPr>
          <a:xfrm>
            <a:off x="6770900" y="1152475"/>
            <a:ext cx="20613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ko" sz="1800">
                <a:solidFill>
                  <a:schemeClr val="dk1"/>
                </a:solidFill>
              </a:rPr>
              <a:t>Why? DACON에서의 평가 기준은 PSFA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ko" sz="1800">
                <a:solidFill>
                  <a:schemeClr val="dk1"/>
                </a:solidFill>
              </a:rPr>
              <a:t>우리 팀의 평가기준은 MAE, RMSE 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46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>
                <a:solidFill>
                  <a:srgbClr val="000000"/>
                </a:solidFill>
              </a:rPr>
              <a:t>팀 프로젝트하면서 </a:t>
            </a:r>
            <a:r>
              <a:rPr lang="ko" sz="2800">
                <a:solidFill>
                  <a:srgbClr val="000000"/>
                </a:solidFill>
              </a:rPr>
              <a:t>느낀점</a:t>
            </a:r>
            <a:r>
              <a:rPr lang="ko" sz="2800">
                <a:solidFill>
                  <a:srgbClr val="000000"/>
                </a:solidFill>
              </a:rPr>
              <a:t> - 양동녕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592" name="Google Shape;592;p46"/>
          <p:cNvSpPr txBox="1"/>
          <p:nvPr/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-"/>
            </a:pPr>
            <a:r>
              <a:rPr lang="ko" sz="1800">
                <a:solidFill>
                  <a:srgbClr val="595959"/>
                </a:solidFill>
              </a:rPr>
              <a:t>혼자했다면 놓치기 쉬운 도메인 지식이나 아이디어를 팀원들과 협업하고 소통하며 새로운 시야가 생성되는 경험을 함.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1A1A1A"/>
                </a:solidFill>
                <a:latin typeface="Arial Black"/>
                <a:ea typeface="Arial Black"/>
                <a:cs typeface="Arial Black"/>
                <a:sym typeface="Arial Black"/>
              </a:rPr>
              <a:t>Mesthod5 ➡ Mesthod4</a:t>
            </a:r>
            <a:endParaRPr/>
          </a:p>
        </p:txBody>
      </p:sp>
      <p:pic>
        <p:nvPicPr>
          <p:cNvPr id="598" name="Google Shape;59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4200"/>
            <a:ext cx="9144000" cy="283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ko">
                <a:latin typeface="Arial Black"/>
                <a:ea typeface="Arial Black"/>
                <a:cs typeface="Arial Black"/>
                <a:sym typeface="Arial Black"/>
              </a:rPr>
              <a:t>Method5 vs Method4 성능 지표 비교</a:t>
            </a:r>
            <a:endParaRPr/>
          </a:p>
        </p:txBody>
      </p:sp>
      <p:pic>
        <p:nvPicPr>
          <p:cNvPr id="604" name="Google Shape;60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59233"/>
            <a:ext cx="9144001" cy="3641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Arial Black"/>
                <a:ea typeface="Arial Black"/>
                <a:cs typeface="Arial Black"/>
                <a:sym typeface="Arial Black"/>
              </a:rPr>
              <a:t>Method5 vs Method4 </a:t>
            </a:r>
            <a:r>
              <a:rPr lang="ko">
                <a:latin typeface="Arial Black"/>
                <a:ea typeface="Arial Black"/>
                <a:cs typeface="Arial Black"/>
                <a:sym typeface="Arial Black"/>
              </a:rPr>
              <a:t>최종 앙상블 성능 비교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610" name="Google Shape;61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615800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Arial Black"/>
                <a:ea typeface="Arial Black"/>
                <a:cs typeface="Arial Black"/>
                <a:sym typeface="Arial Black"/>
              </a:rPr>
              <a:t>Method5 vs Method4 </a:t>
            </a:r>
            <a:r>
              <a:rPr lang="ko">
                <a:latin typeface="Arial Black"/>
                <a:ea typeface="Arial Black"/>
                <a:cs typeface="Arial Black"/>
                <a:sym typeface="Arial Black"/>
              </a:rPr>
              <a:t>lgbm </a:t>
            </a:r>
            <a:r>
              <a:rPr lang="ko">
                <a:latin typeface="Arial Black"/>
                <a:ea typeface="Arial Black"/>
                <a:cs typeface="Arial Black"/>
                <a:sym typeface="Arial Black"/>
              </a:rPr>
              <a:t>피처 중요도 비교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616" name="Google Shape;61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54125"/>
            <a:ext cx="8826714" cy="3836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Arial Black"/>
                <a:ea typeface="Arial Black"/>
                <a:cs typeface="Arial Black"/>
                <a:sym typeface="Arial Black"/>
              </a:rPr>
              <a:t>DACON </a:t>
            </a:r>
            <a:r>
              <a:rPr lang="ko">
                <a:latin typeface="Arial Black"/>
                <a:ea typeface="Arial Black"/>
                <a:cs typeface="Arial Black"/>
                <a:sym typeface="Arial Black"/>
              </a:rPr>
              <a:t>점수 순위표(Private점수 기준)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622" name="Google Shape;62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4300" y="1142550"/>
            <a:ext cx="7031475" cy="389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1A1A"/>
        </a:solidFill>
      </p:bgPr>
    </p:bg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52"/>
          <p:cNvSpPr txBox="1"/>
          <p:nvPr/>
        </p:nvSpPr>
        <p:spPr>
          <a:xfrm>
            <a:off x="1323600" y="2325450"/>
            <a:ext cx="649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Part 3 최종 정리와 실전 팁</a:t>
            </a:r>
            <a:endParaRPr b="1" sz="20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Arial Black"/>
                <a:ea typeface="Arial Black"/>
                <a:cs typeface="Arial Black"/>
                <a:sym typeface="Arial Black"/>
              </a:rPr>
              <a:t>프로젝트 후 얻은 인사이트와 결론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33" name="Google Shape;633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rgbClr val="1F1F1F"/>
                </a:solidFill>
                <a:latin typeface="Arial Black"/>
                <a:ea typeface="Arial Black"/>
                <a:cs typeface="Arial Black"/>
                <a:sym typeface="Arial Black"/>
              </a:rPr>
              <a:t>지표 이해 : Val RMSE와 PSFA는 다른 것을 평가함. 제출 지표를 먼저 완전히 이해해야 함</a:t>
            </a:r>
            <a:endParaRPr>
              <a:solidFill>
                <a:srgbClr val="1F1F1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rgbClr val="1F1F1F"/>
                </a:solidFill>
                <a:latin typeface="Arial Black"/>
                <a:ea typeface="Arial Black"/>
                <a:cs typeface="Arial Black"/>
                <a:sym typeface="Arial Black"/>
              </a:rPr>
              <a:t>비즈니스 vs 지표 : 비즈니스 논리(급변 포착)와 평가지표(전체 트렌드)가 충돌할 수 있음</a:t>
            </a:r>
            <a:endParaRPr>
              <a:solidFill>
                <a:srgbClr val="1F1F1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rgbClr val="1F1F1F"/>
                </a:solidFill>
                <a:latin typeface="Arial Black"/>
                <a:ea typeface="Arial Black"/>
                <a:cs typeface="Arial Black"/>
                <a:sym typeface="Arial Black"/>
              </a:rPr>
              <a:t>앙상블의 가치 : DL 단독 0.4313 → 앙상블 0.4336: 서로 다른 관점의 모델이 약점을 보완</a:t>
            </a:r>
            <a:endParaRPr>
              <a:solidFill>
                <a:srgbClr val="1F1F1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rgbClr val="1F1F1F"/>
                </a:solidFill>
                <a:latin typeface="Arial Black"/>
                <a:ea typeface="Arial Black"/>
                <a:cs typeface="Arial Black"/>
                <a:sym typeface="Arial Black"/>
              </a:rPr>
              <a:t>실패의 가치 : Method 5 실패가 없었다면 PSFA의 본질을 깨닫지 못했을 것</a:t>
            </a:r>
            <a:endParaRPr>
              <a:solidFill>
                <a:srgbClr val="1F1F1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4A4A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54"/>
          <p:cNvSpPr/>
          <p:nvPr/>
        </p:nvSpPr>
        <p:spPr>
          <a:xfrm>
            <a:off x="0" y="0"/>
            <a:ext cx="9144000" cy="5040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54"/>
          <p:cNvSpPr/>
          <p:nvPr/>
        </p:nvSpPr>
        <p:spPr>
          <a:xfrm>
            <a:off x="457200" y="109728"/>
            <a:ext cx="82296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ko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Lessons Learned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54"/>
          <p:cNvSpPr/>
          <p:nvPr/>
        </p:nvSpPr>
        <p:spPr>
          <a:xfrm>
            <a:off x="457200" y="621792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200"/>
              <a:buFont typeface="Calibri"/>
              <a:buNone/>
            </a:pPr>
            <a:r>
              <a:rPr b="0" i="0" lang="ko" sz="12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극복 노트  —  AI </a:t>
            </a:r>
            <a:r>
              <a:rPr lang="ko" sz="1200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TIP : </a:t>
            </a:r>
            <a:r>
              <a:rPr b="1" lang="ko" sz="8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 “방향과 판단은 사람이 잡고, AI는 반복 실험과 구조 정리를 빠르게 돕는 방식”이 가장 효율적이었다.</a:t>
            </a:r>
            <a:endParaRPr sz="1200">
              <a:solidFill>
                <a:srgbClr val="FADB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54"/>
          <p:cNvSpPr/>
          <p:nvPr/>
        </p:nvSpPr>
        <p:spPr>
          <a:xfrm>
            <a:off x="457200" y="932688"/>
            <a:ext cx="8229600" cy="2280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54"/>
          <p:cNvSpPr/>
          <p:nvPr/>
        </p:nvSpPr>
        <p:spPr>
          <a:xfrm>
            <a:off x="457200" y="1005840"/>
            <a:ext cx="4251900" cy="160020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54"/>
          <p:cNvSpPr/>
          <p:nvPr/>
        </p:nvSpPr>
        <p:spPr>
          <a:xfrm>
            <a:off x="640080" y="1097280"/>
            <a:ext cx="438900" cy="438900"/>
          </a:xfrm>
          <a:prstGeom prst="ellipse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54"/>
          <p:cNvSpPr/>
          <p:nvPr/>
        </p:nvSpPr>
        <p:spPr>
          <a:xfrm>
            <a:off x="640080" y="1097280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k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🔁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54"/>
          <p:cNvSpPr/>
          <p:nvPr/>
        </p:nvSpPr>
        <p:spPr>
          <a:xfrm>
            <a:off x="1170432" y="1115568"/>
            <a:ext cx="34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ko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① 체크포인트 Resume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54"/>
          <p:cNvSpPr/>
          <p:nvPr/>
        </p:nvSpPr>
        <p:spPr>
          <a:xfrm>
            <a:off x="640080" y="1591056"/>
            <a:ext cx="39318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학습 중간에 뻗어도 OK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os.path.exists()로 있으면 로드,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없으면 처음부터 — 시간 낭비 제로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54"/>
          <p:cNvSpPr/>
          <p:nvPr/>
        </p:nvSpPr>
        <p:spPr>
          <a:xfrm>
            <a:off x="4764090" y="1005840"/>
            <a:ext cx="4251900" cy="160020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54"/>
          <p:cNvSpPr/>
          <p:nvPr/>
        </p:nvSpPr>
        <p:spPr>
          <a:xfrm>
            <a:off x="5074920" y="1097280"/>
            <a:ext cx="438900" cy="438900"/>
          </a:xfrm>
          <a:prstGeom prst="ellipse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54"/>
          <p:cNvSpPr/>
          <p:nvPr/>
        </p:nvSpPr>
        <p:spPr>
          <a:xfrm>
            <a:off x="4946970" y="1097280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k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💾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54"/>
          <p:cNvSpPr/>
          <p:nvPr/>
        </p:nvSpPr>
        <p:spPr>
          <a:xfrm>
            <a:off x="5477322" y="1115568"/>
            <a:ext cx="34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ko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② 로딩/저장 명시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54"/>
          <p:cNvSpPr/>
          <p:nvPr/>
        </p:nvSpPr>
        <p:spPr>
          <a:xfrm>
            <a:off x="4946970" y="1591056"/>
            <a:ext cx="39318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코드에 저장/로드 먼저 확인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.pt / .npy / .pkl 역할 분리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저장 없이 학습 돌리지 않기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54"/>
          <p:cNvSpPr/>
          <p:nvPr/>
        </p:nvSpPr>
        <p:spPr>
          <a:xfrm>
            <a:off x="457200" y="2724912"/>
            <a:ext cx="2761500" cy="210300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54"/>
          <p:cNvSpPr/>
          <p:nvPr/>
        </p:nvSpPr>
        <p:spPr>
          <a:xfrm>
            <a:off x="621792" y="2816352"/>
            <a:ext cx="411600" cy="411600"/>
          </a:xfrm>
          <a:prstGeom prst="ellipse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4"/>
          <p:cNvSpPr/>
          <p:nvPr/>
        </p:nvSpPr>
        <p:spPr>
          <a:xfrm>
            <a:off x="621792" y="2816352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ko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54"/>
          <p:cNvSpPr/>
          <p:nvPr/>
        </p:nvSpPr>
        <p:spPr>
          <a:xfrm>
            <a:off x="1115568" y="2834640"/>
            <a:ext cx="199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ko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③ 마크다운 주석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54"/>
          <p:cNvSpPr/>
          <p:nvPr/>
        </p:nvSpPr>
        <p:spPr>
          <a:xfrm>
            <a:off x="621792" y="3291840"/>
            <a:ext cx="24873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"인간이 보기 편하게 만들어줘"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셀마다 💬해석 + 의사결정 기록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AI가 더 예쁘고 체계적으로 써줌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54"/>
          <p:cNvSpPr/>
          <p:nvPr/>
        </p:nvSpPr>
        <p:spPr>
          <a:xfrm>
            <a:off x="3355848" y="2724912"/>
            <a:ext cx="2761500" cy="210300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54"/>
          <p:cNvSpPr/>
          <p:nvPr/>
        </p:nvSpPr>
        <p:spPr>
          <a:xfrm>
            <a:off x="3520440" y="2816352"/>
            <a:ext cx="411600" cy="411600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54"/>
          <p:cNvSpPr/>
          <p:nvPr/>
        </p:nvSpPr>
        <p:spPr>
          <a:xfrm>
            <a:off x="3520440" y="2816352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ko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🔔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54"/>
          <p:cNvSpPr/>
          <p:nvPr/>
        </p:nvSpPr>
        <p:spPr>
          <a:xfrm>
            <a:off x="4014216" y="2834640"/>
            <a:ext cx="199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ko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④ Discord Webhook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54"/>
          <p:cNvSpPr/>
          <p:nvPr/>
        </p:nvSpPr>
        <p:spPr>
          <a:xfrm>
            <a:off x="3520440" y="3291840"/>
            <a:ext cx="24873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셀 완료마다 알림 전송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자리 비워도 진행 상황 확인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send_discord_message() 1줄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54"/>
          <p:cNvSpPr/>
          <p:nvPr/>
        </p:nvSpPr>
        <p:spPr>
          <a:xfrm>
            <a:off x="6254496" y="2724912"/>
            <a:ext cx="2761500" cy="210300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54"/>
          <p:cNvSpPr/>
          <p:nvPr/>
        </p:nvSpPr>
        <p:spPr>
          <a:xfrm>
            <a:off x="6419088" y="2816352"/>
            <a:ext cx="411600" cy="411600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54"/>
          <p:cNvSpPr/>
          <p:nvPr/>
        </p:nvSpPr>
        <p:spPr>
          <a:xfrm>
            <a:off x="6419088" y="2816352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ko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🚀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54"/>
          <p:cNvSpPr/>
          <p:nvPr/>
        </p:nvSpPr>
        <p:spPr>
          <a:xfrm>
            <a:off x="6912864" y="2834640"/>
            <a:ext cx="199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ko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⑤ GPU 메모리 다이어트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54"/>
          <p:cNvSpPr/>
          <p:nvPr/>
        </p:nvSpPr>
        <p:spPr>
          <a:xfrm>
            <a:off x="6419088" y="3291840"/>
            <a:ext cx="24873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Downcasting → 46% 절감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PYTORCH_CUDA_ALLOC_CONF 설정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SKIP 플래그로 무거운 실험 on/off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4A4A"/>
        </a:solidFill>
      </p:bgPr>
    </p:bg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55"/>
          <p:cNvSpPr/>
          <p:nvPr/>
        </p:nvSpPr>
        <p:spPr>
          <a:xfrm>
            <a:off x="0" y="0"/>
            <a:ext cx="9144000" cy="5040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55"/>
          <p:cNvSpPr/>
          <p:nvPr/>
        </p:nvSpPr>
        <p:spPr>
          <a:xfrm>
            <a:off x="457200" y="109728"/>
            <a:ext cx="82296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ko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Lessons Learned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55"/>
          <p:cNvSpPr/>
          <p:nvPr/>
        </p:nvSpPr>
        <p:spPr>
          <a:xfrm>
            <a:off x="457200" y="621792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200"/>
              <a:buFont typeface="Calibri"/>
              <a:buNone/>
            </a:pPr>
            <a:r>
              <a:rPr b="0" i="0" lang="ko" sz="12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극복 노트  —  AI </a:t>
            </a:r>
            <a:r>
              <a:rPr lang="ko" sz="1200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TIP : </a:t>
            </a:r>
            <a:r>
              <a:rPr b="1" lang="ko" sz="8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 “방향과 판단은 사람이 잡고, AI는 반복 실험과 구조 정리를 빠르게 돕는 방식”이 가장 효율적이었다.</a:t>
            </a:r>
            <a:endParaRPr sz="1200">
              <a:solidFill>
                <a:srgbClr val="FADB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55"/>
          <p:cNvSpPr/>
          <p:nvPr/>
        </p:nvSpPr>
        <p:spPr>
          <a:xfrm>
            <a:off x="457200" y="932688"/>
            <a:ext cx="8229600" cy="2280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55"/>
          <p:cNvSpPr/>
          <p:nvPr/>
        </p:nvSpPr>
        <p:spPr>
          <a:xfrm>
            <a:off x="457200" y="1005840"/>
            <a:ext cx="4251900" cy="160020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55"/>
          <p:cNvSpPr/>
          <p:nvPr/>
        </p:nvSpPr>
        <p:spPr>
          <a:xfrm>
            <a:off x="640080" y="1097280"/>
            <a:ext cx="438900" cy="438900"/>
          </a:xfrm>
          <a:prstGeom prst="ellipse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5"/>
          <p:cNvSpPr/>
          <p:nvPr/>
        </p:nvSpPr>
        <p:spPr>
          <a:xfrm>
            <a:off x="640080" y="1097280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k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🔁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55"/>
          <p:cNvSpPr/>
          <p:nvPr/>
        </p:nvSpPr>
        <p:spPr>
          <a:xfrm>
            <a:off x="1170432" y="1115568"/>
            <a:ext cx="34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ko" sz="1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① 체크포인트 Resume</a:t>
            </a:r>
            <a:endParaRPr b="0" i="0" sz="13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55"/>
          <p:cNvSpPr/>
          <p:nvPr/>
        </p:nvSpPr>
        <p:spPr>
          <a:xfrm>
            <a:off x="640080" y="1591056"/>
            <a:ext cx="39318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학습 중간에 뻗어도 OK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os.path.exists()로 있으면 로드,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없으면 처음부터 — 시간 낭비 제로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55"/>
          <p:cNvSpPr/>
          <p:nvPr/>
        </p:nvSpPr>
        <p:spPr>
          <a:xfrm>
            <a:off x="4764090" y="1005840"/>
            <a:ext cx="4251900" cy="160020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5"/>
          <p:cNvSpPr/>
          <p:nvPr/>
        </p:nvSpPr>
        <p:spPr>
          <a:xfrm>
            <a:off x="5074920" y="1097280"/>
            <a:ext cx="438900" cy="438900"/>
          </a:xfrm>
          <a:prstGeom prst="ellipse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5"/>
          <p:cNvSpPr/>
          <p:nvPr/>
        </p:nvSpPr>
        <p:spPr>
          <a:xfrm>
            <a:off x="4946970" y="1097280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k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💾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55"/>
          <p:cNvSpPr/>
          <p:nvPr/>
        </p:nvSpPr>
        <p:spPr>
          <a:xfrm>
            <a:off x="5477322" y="1115568"/>
            <a:ext cx="34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ko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② 로딩/저장 명시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55"/>
          <p:cNvSpPr/>
          <p:nvPr/>
        </p:nvSpPr>
        <p:spPr>
          <a:xfrm>
            <a:off x="4946970" y="1591056"/>
            <a:ext cx="39318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코드에 저장/로드 먼저 확인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.pt / .npy / .pkl 역할 분리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저장 없이 학습 돌리지 않기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55"/>
          <p:cNvSpPr/>
          <p:nvPr/>
        </p:nvSpPr>
        <p:spPr>
          <a:xfrm>
            <a:off x="457200" y="2724912"/>
            <a:ext cx="2761500" cy="210300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55"/>
          <p:cNvSpPr/>
          <p:nvPr/>
        </p:nvSpPr>
        <p:spPr>
          <a:xfrm>
            <a:off x="621792" y="2816352"/>
            <a:ext cx="411600" cy="411600"/>
          </a:xfrm>
          <a:prstGeom prst="ellipse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55"/>
          <p:cNvSpPr/>
          <p:nvPr/>
        </p:nvSpPr>
        <p:spPr>
          <a:xfrm>
            <a:off x="621792" y="2816352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ko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55"/>
          <p:cNvSpPr/>
          <p:nvPr/>
        </p:nvSpPr>
        <p:spPr>
          <a:xfrm>
            <a:off x="1115568" y="2834640"/>
            <a:ext cx="199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ko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③ 마크다운 주석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55"/>
          <p:cNvSpPr/>
          <p:nvPr/>
        </p:nvSpPr>
        <p:spPr>
          <a:xfrm>
            <a:off x="621792" y="3291840"/>
            <a:ext cx="24873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"인간이 보기 편하게 만들어줘"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셀마다 💬해석 + 의사결정 기록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AI가 더 예쁘고 체계적으로 써줌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55"/>
          <p:cNvSpPr/>
          <p:nvPr/>
        </p:nvSpPr>
        <p:spPr>
          <a:xfrm>
            <a:off x="3355848" y="2724912"/>
            <a:ext cx="2761500" cy="210300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55"/>
          <p:cNvSpPr/>
          <p:nvPr/>
        </p:nvSpPr>
        <p:spPr>
          <a:xfrm>
            <a:off x="3520440" y="2816352"/>
            <a:ext cx="411600" cy="411600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55"/>
          <p:cNvSpPr/>
          <p:nvPr/>
        </p:nvSpPr>
        <p:spPr>
          <a:xfrm>
            <a:off x="3520440" y="2816352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ko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🔔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55"/>
          <p:cNvSpPr/>
          <p:nvPr/>
        </p:nvSpPr>
        <p:spPr>
          <a:xfrm>
            <a:off x="4014216" y="2834640"/>
            <a:ext cx="199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ko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④ Discord Webhook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55"/>
          <p:cNvSpPr/>
          <p:nvPr/>
        </p:nvSpPr>
        <p:spPr>
          <a:xfrm>
            <a:off x="3520440" y="3291840"/>
            <a:ext cx="24873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셀 완료마다 알림 전송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자리 비워도 진행 상황 확인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send_discord_message() 1줄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55"/>
          <p:cNvSpPr/>
          <p:nvPr/>
        </p:nvSpPr>
        <p:spPr>
          <a:xfrm>
            <a:off x="6254496" y="2724912"/>
            <a:ext cx="2761500" cy="210300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55"/>
          <p:cNvSpPr/>
          <p:nvPr/>
        </p:nvSpPr>
        <p:spPr>
          <a:xfrm>
            <a:off x="6419088" y="2816352"/>
            <a:ext cx="411600" cy="411600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5"/>
          <p:cNvSpPr/>
          <p:nvPr/>
        </p:nvSpPr>
        <p:spPr>
          <a:xfrm>
            <a:off x="6419088" y="2816352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ko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🚀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55"/>
          <p:cNvSpPr/>
          <p:nvPr/>
        </p:nvSpPr>
        <p:spPr>
          <a:xfrm>
            <a:off x="6912864" y="2834640"/>
            <a:ext cx="199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ko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⑤ GPU 메모리 다이어트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55"/>
          <p:cNvSpPr/>
          <p:nvPr/>
        </p:nvSpPr>
        <p:spPr>
          <a:xfrm>
            <a:off x="6419088" y="3291840"/>
            <a:ext cx="24873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Downcasting → 46% 절감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PYTORCH_CUDA_ALLOC_CONF 설정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SKIP 플래그로 무거운 실험 on/off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2" name="Google Shape;70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3075" y="932710"/>
            <a:ext cx="5038649" cy="54326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4A4A"/>
        </a:solidFill>
      </p:bgPr>
    </p:bg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56"/>
          <p:cNvSpPr/>
          <p:nvPr/>
        </p:nvSpPr>
        <p:spPr>
          <a:xfrm>
            <a:off x="0" y="0"/>
            <a:ext cx="9144000" cy="5040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56"/>
          <p:cNvSpPr/>
          <p:nvPr/>
        </p:nvSpPr>
        <p:spPr>
          <a:xfrm>
            <a:off x="457200" y="109728"/>
            <a:ext cx="82296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ko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Lessons Learned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56"/>
          <p:cNvSpPr/>
          <p:nvPr/>
        </p:nvSpPr>
        <p:spPr>
          <a:xfrm>
            <a:off x="457200" y="621792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200"/>
              <a:buFont typeface="Calibri"/>
              <a:buNone/>
            </a:pPr>
            <a:r>
              <a:rPr lang="ko" sz="1200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극복 노트  —  AI TIP : </a:t>
            </a:r>
            <a:r>
              <a:rPr b="1" lang="ko" sz="8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 “방향과 판단은 사람이 잡고, AI는 반복 실험과 구조 정리를 빠르게 돕는 방식”이 가장 효율적이었다.</a:t>
            </a:r>
            <a:endParaRPr sz="1200">
              <a:solidFill>
                <a:srgbClr val="FADB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56"/>
          <p:cNvSpPr/>
          <p:nvPr/>
        </p:nvSpPr>
        <p:spPr>
          <a:xfrm>
            <a:off x="457200" y="932688"/>
            <a:ext cx="8229600" cy="2280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56"/>
          <p:cNvSpPr/>
          <p:nvPr/>
        </p:nvSpPr>
        <p:spPr>
          <a:xfrm>
            <a:off x="457200" y="1005840"/>
            <a:ext cx="4251900" cy="160020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56"/>
          <p:cNvSpPr/>
          <p:nvPr/>
        </p:nvSpPr>
        <p:spPr>
          <a:xfrm>
            <a:off x="640080" y="1097280"/>
            <a:ext cx="438900" cy="438900"/>
          </a:xfrm>
          <a:prstGeom prst="ellipse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56"/>
          <p:cNvSpPr/>
          <p:nvPr/>
        </p:nvSpPr>
        <p:spPr>
          <a:xfrm>
            <a:off x="640080" y="1097280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k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🔁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56"/>
          <p:cNvSpPr/>
          <p:nvPr/>
        </p:nvSpPr>
        <p:spPr>
          <a:xfrm>
            <a:off x="1170432" y="1115568"/>
            <a:ext cx="34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ko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① 체크포인트 Resume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56"/>
          <p:cNvSpPr/>
          <p:nvPr/>
        </p:nvSpPr>
        <p:spPr>
          <a:xfrm>
            <a:off x="640080" y="1591056"/>
            <a:ext cx="39318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학습 중간에 뻗어도 OK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os.path.exists()로 있으면 로드,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없으면 처음부터 — 시간 낭비 제로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56"/>
          <p:cNvSpPr/>
          <p:nvPr/>
        </p:nvSpPr>
        <p:spPr>
          <a:xfrm>
            <a:off x="4764090" y="1005840"/>
            <a:ext cx="4251900" cy="160020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56"/>
          <p:cNvSpPr/>
          <p:nvPr/>
        </p:nvSpPr>
        <p:spPr>
          <a:xfrm>
            <a:off x="5074920" y="1097280"/>
            <a:ext cx="438900" cy="438900"/>
          </a:xfrm>
          <a:prstGeom prst="ellipse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56"/>
          <p:cNvSpPr/>
          <p:nvPr/>
        </p:nvSpPr>
        <p:spPr>
          <a:xfrm>
            <a:off x="4946970" y="1097280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k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💾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56"/>
          <p:cNvSpPr/>
          <p:nvPr/>
        </p:nvSpPr>
        <p:spPr>
          <a:xfrm>
            <a:off x="5477322" y="1115568"/>
            <a:ext cx="34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ko" sz="13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② 로딩/저장 명시</a:t>
            </a:r>
            <a:endParaRPr b="0" i="0" sz="13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56"/>
          <p:cNvSpPr/>
          <p:nvPr/>
        </p:nvSpPr>
        <p:spPr>
          <a:xfrm>
            <a:off x="4946970" y="1591056"/>
            <a:ext cx="39318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코드에 저장/로드 먼저 확인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.pt / .npy / .pkl 역할 분리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저장 없이 학습 돌리지 않기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56"/>
          <p:cNvSpPr/>
          <p:nvPr/>
        </p:nvSpPr>
        <p:spPr>
          <a:xfrm>
            <a:off x="457200" y="2724912"/>
            <a:ext cx="2761500" cy="210300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56"/>
          <p:cNvSpPr/>
          <p:nvPr/>
        </p:nvSpPr>
        <p:spPr>
          <a:xfrm>
            <a:off x="621792" y="2816352"/>
            <a:ext cx="411600" cy="411600"/>
          </a:xfrm>
          <a:prstGeom prst="ellipse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56"/>
          <p:cNvSpPr/>
          <p:nvPr/>
        </p:nvSpPr>
        <p:spPr>
          <a:xfrm>
            <a:off x="621792" y="2816352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ko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56"/>
          <p:cNvSpPr/>
          <p:nvPr/>
        </p:nvSpPr>
        <p:spPr>
          <a:xfrm>
            <a:off x="1115568" y="2834640"/>
            <a:ext cx="199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ko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③ 마크다운 주석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56"/>
          <p:cNvSpPr/>
          <p:nvPr/>
        </p:nvSpPr>
        <p:spPr>
          <a:xfrm>
            <a:off x="621792" y="3291840"/>
            <a:ext cx="24873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"인간이 보기 편하게 만들어줘"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셀마다 💬해석 + 의사결정 기록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AI가 더 예쁘고 체계적으로 써줌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56"/>
          <p:cNvSpPr/>
          <p:nvPr/>
        </p:nvSpPr>
        <p:spPr>
          <a:xfrm>
            <a:off x="3355848" y="2724912"/>
            <a:ext cx="2761500" cy="210300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56"/>
          <p:cNvSpPr/>
          <p:nvPr/>
        </p:nvSpPr>
        <p:spPr>
          <a:xfrm>
            <a:off x="3520440" y="2816352"/>
            <a:ext cx="411600" cy="411600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56"/>
          <p:cNvSpPr/>
          <p:nvPr/>
        </p:nvSpPr>
        <p:spPr>
          <a:xfrm>
            <a:off x="3520440" y="2816352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ko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🔔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6"/>
          <p:cNvSpPr/>
          <p:nvPr/>
        </p:nvSpPr>
        <p:spPr>
          <a:xfrm>
            <a:off x="4014216" y="2834640"/>
            <a:ext cx="199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ko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④ Discord Webhook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6"/>
          <p:cNvSpPr/>
          <p:nvPr/>
        </p:nvSpPr>
        <p:spPr>
          <a:xfrm>
            <a:off x="3520440" y="3291840"/>
            <a:ext cx="24873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셀 완료마다 알림 전송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자리 비워도 진행 상황 확인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send_discord_message() 1줄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56"/>
          <p:cNvSpPr/>
          <p:nvPr/>
        </p:nvSpPr>
        <p:spPr>
          <a:xfrm>
            <a:off x="6254496" y="2724912"/>
            <a:ext cx="2761500" cy="210300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56"/>
          <p:cNvSpPr/>
          <p:nvPr/>
        </p:nvSpPr>
        <p:spPr>
          <a:xfrm>
            <a:off x="6419088" y="2816352"/>
            <a:ext cx="411600" cy="411600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56"/>
          <p:cNvSpPr/>
          <p:nvPr/>
        </p:nvSpPr>
        <p:spPr>
          <a:xfrm>
            <a:off x="6419088" y="2816352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ko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🚀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56"/>
          <p:cNvSpPr/>
          <p:nvPr/>
        </p:nvSpPr>
        <p:spPr>
          <a:xfrm>
            <a:off x="6912864" y="2834640"/>
            <a:ext cx="199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ko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⑤ GPU 메모리 다이어트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56"/>
          <p:cNvSpPr/>
          <p:nvPr/>
        </p:nvSpPr>
        <p:spPr>
          <a:xfrm>
            <a:off x="6419088" y="3291840"/>
            <a:ext cx="24873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Downcasting → 46% 절감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PYTORCH_CUDA_ALLOC_CONF 설정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SKIP 플래그로 무거운 실험 on/off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7" name="Google Shape;73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650" y="1005861"/>
            <a:ext cx="4134649" cy="351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4A4A"/>
        </a:solidFill>
      </p:bgPr>
    </p:bg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57"/>
          <p:cNvSpPr/>
          <p:nvPr/>
        </p:nvSpPr>
        <p:spPr>
          <a:xfrm>
            <a:off x="0" y="0"/>
            <a:ext cx="9144000" cy="5040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57"/>
          <p:cNvSpPr/>
          <p:nvPr/>
        </p:nvSpPr>
        <p:spPr>
          <a:xfrm>
            <a:off x="457200" y="109728"/>
            <a:ext cx="82296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ko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Lessons Learned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57"/>
          <p:cNvSpPr/>
          <p:nvPr/>
        </p:nvSpPr>
        <p:spPr>
          <a:xfrm>
            <a:off x="457200" y="621792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200"/>
              <a:buFont typeface="Calibri"/>
              <a:buNone/>
            </a:pPr>
            <a:r>
              <a:rPr lang="ko" sz="1200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극복 노트  —  AI TIP : </a:t>
            </a:r>
            <a:r>
              <a:rPr b="1" lang="ko" sz="8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 “방향과 판단은 사람이 잡고, AI는 반복 실험과 구조 정리를 빠르게 돕는 방식”이 가장 효율적이었다.</a:t>
            </a:r>
            <a:endParaRPr sz="1200">
              <a:solidFill>
                <a:srgbClr val="FADB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57"/>
          <p:cNvSpPr/>
          <p:nvPr/>
        </p:nvSpPr>
        <p:spPr>
          <a:xfrm>
            <a:off x="457200" y="932688"/>
            <a:ext cx="8229600" cy="2280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57"/>
          <p:cNvSpPr/>
          <p:nvPr/>
        </p:nvSpPr>
        <p:spPr>
          <a:xfrm>
            <a:off x="457200" y="1005840"/>
            <a:ext cx="4251900" cy="160020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57"/>
          <p:cNvSpPr/>
          <p:nvPr/>
        </p:nvSpPr>
        <p:spPr>
          <a:xfrm>
            <a:off x="640080" y="1097280"/>
            <a:ext cx="438900" cy="438900"/>
          </a:xfrm>
          <a:prstGeom prst="ellipse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57"/>
          <p:cNvSpPr/>
          <p:nvPr/>
        </p:nvSpPr>
        <p:spPr>
          <a:xfrm>
            <a:off x="640080" y="1097280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k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🔁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57"/>
          <p:cNvSpPr/>
          <p:nvPr/>
        </p:nvSpPr>
        <p:spPr>
          <a:xfrm>
            <a:off x="1170432" y="1115568"/>
            <a:ext cx="34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ko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① 체크포인트 Resume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57"/>
          <p:cNvSpPr/>
          <p:nvPr/>
        </p:nvSpPr>
        <p:spPr>
          <a:xfrm>
            <a:off x="640080" y="1591056"/>
            <a:ext cx="39318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학습 중간에 뻗어도 OK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os.path.exists()로 있으면 로드,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없으면 처음부터 — 시간 낭비 제로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57"/>
          <p:cNvSpPr/>
          <p:nvPr/>
        </p:nvSpPr>
        <p:spPr>
          <a:xfrm>
            <a:off x="4764090" y="1005840"/>
            <a:ext cx="4251900" cy="160020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57"/>
          <p:cNvSpPr/>
          <p:nvPr/>
        </p:nvSpPr>
        <p:spPr>
          <a:xfrm>
            <a:off x="5074920" y="1097280"/>
            <a:ext cx="438900" cy="438900"/>
          </a:xfrm>
          <a:prstGeom prst="ellipse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57"/>
          <p:cNvSpPr/>
          <p:nvPr/>
        </p:nvSpPr>
        <p:spPr>
          <a:xfrm>
            <a:off x="4946970" y="1097280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k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💾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57"/>
          <p:cNvSpPr/>
          <p:nvPr/>
        </p:nvSpPr>
        <p:spPr>
          <a:xfrm>
            <a:off x="5477322" y="1115568"/>
            <a:ext cx="34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ko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② 로딩/저장 명시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57"/>
          <p:cNvSpPr/>
          <p:nvPr/>
        </p:nvSpPr>
        <p:spPr>
          <a:xfrm>
            <a:off x="4946970" y="1591056"/>
            <a:ext cx="39318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코드에 저장/로드 먼저 확인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.pt / .npy / .pkl 역할 분리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저장 없이 학습 돌리지 않기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57"/>
          <p:cNvSpPr/>
          <p:nvPr/>
        </p:nvSpPr>
        <p:spPr>
          <a:xfrm>
            <a:off x="457200" y="2724912"/>
            <a:ext cx="2761500" cy="210300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57"/>
          <p:cNvSpPr/>
          <p:nvPr/>
        </p:nvSpPr>
        <p:spPr>
          <a:xfrm>
            <a:off x="621792" y="2816352"/>
            <a:ext cx="411600" cy="411600"/>
          </a:xfrm>
          <a:prstGeom prst="ellipse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57"/>
          <p:cNvSpPr/>
          <p:nvPr/>
        </p:nvSpPr>
        <p:spPr>
          <a:xfrm>
            <a:off x="621792" y="2816352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ko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57"/>
          <p:cNvSpPr/>
          <p:nvPr/>
        </p:nvSpPr>
        <p:spPr>
          <a:xfrm>
            <a:off x="1115568" y="2834640"/>
            <a:ext cx="199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ko" sz="115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③ 마크다운 주석</a:t>
            </a:r>
            <a:endParaRPr b="1" i="0" sz="115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57"/>
          <p:cNvSpPr/>
          <p:nvPr/>
        </p:nvSpPr>
        <p:spPr>
          <a:xfrm>
            <a:off x="621792" y="3291840"/>
            <a:ext cx="24873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"인간이 보기 편하게 만들어줘"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셀마다 💬해석 + 의사결정 기록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AI가 더 예쁘고 체계적으로 써줌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57"/>
          <p:cNvSpPr/>
          <p:nvPr/>
        </p:nvSpPr>
        <p:spPr>
          <a:xfrm>
            <a:off x="3355848" y="2724912"/>
            <a:ext cx="2761500" cy="210300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57"/>
          <p:cNvSpPr/>
          <p:nvPr/>
        </p:nvSpPr>
        <p:spPr>
          <a:xfrm>
            <a:off x="3520440" y="2816352"/>
            <a:ext cx="411600" cy="411600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57"/>
          <p:cNvSpPr/>
          <p:nvPr/>
        </p:nvSpPr>
        <p:spPr>
          <a:xfrm>
            <a:off x="3520440" y="2816352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ko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🔔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57"/>
          <p:cNvSpPr/>
          <p:nvPr/>
        </p:nvSpPr>
        <p:spPr>
          <a:xfrm>
            <a:off x="4014216" y="2834640"/>
            <a:ext cx="199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ko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④ Discord Webhook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57"/>
          <p:cNvSpPr/>
          <p:nvPr/>
        </p:nvSpPr>
        <p:spPr>
          <a:xfrm>
            <a:off x="3520440" y="3291840"/>
            <a:ext cx="24873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셀 완료마다 알림 전송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자리 비워도 진행 상황 확인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send_discord_message() 1줄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57"/>
          <p:cNvSpPr/>
          <p:nvPr/>
        </p:nvSpPr>
        <p:spPr>
          <a:xfrm>
            <a:off x="6254496" y="2724912"/>
            <a:ext cx="2761500" cy="210300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57"/>
          <p:cNvSpPr/>
          <p:nvPr/>
        </p:nvSpPr>
        <p:spPr>
          <a:xfrm>
            <a:off x="6419088" y="2816352"/>
            <a:ext cx="411600" cy="411600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57"/>
          <p:cNvSpPr/>
          <p:nvPr/>
        </p:nvSpPr>
        <p:spPr>
          <a:xfrm>
            <a:off x="6419088" y="2816352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ko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🚀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57"/>
          <p:cNvSpPr/>
          <p:nvPr/>
        </p:nvSpPr>
        <p:spPr>
          <a:xfrm>
            <a:off x="6912864" y="2834640"/>
            <a:ext cx="199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ko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⑤ GPU 메모리 다이어트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57"/>
          <p:cNvSpPr/>
          <p:nvPr/>
        </p:nvSpPr>
        <p:spPr>
          <a:xfrm>
            <a:off x="6419088" y="3291840"/>
            <a:ext cx="24873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Downcasting → 46% 절감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PYTORCH_CUDA_ALLOC_CONF 설정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SKIP 플래그로 무거운 실험 on/off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2" name="Google Shape;772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5850" y="932700"/>
            <a:ext cx="5590987" cy="393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4A4A"/>
        </a:solidFill>
      </p:bgPr>
    </p:bg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58"/>
          <p:cNvSpPr/>
          <p:nvPr/>
        </p:nvSpPr>
        <p:spPr>
          <a:xfrm>
            <a:off x="0" y="0"/>
            <a:ext cx="9144000" cy="5040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58"/>
          <p:cNvSpPr/>
          <p:nvPr/>
        </p:nvSpPr>
        <p:spPr>
          <a:xfrm>
            <a:off x="457200" y="109728"/>
            <a:ext cx="82296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ko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Lessons Learned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58"/>
          <p:cNvSpPr/>
          <p:nvPr/>
        </p:nvSpPr>
        <p:spPr>
          <a:xfrm>
            <a:off x="457200" y="621792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200"/>
              <a:buFont typeface="Calibri"/>
              <a:buNone/>
            </a:pPr>
            <a:r>
              <a:rPr lang="ko" sz="1200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극복 노트  —  AI TIP : </a:t>
            </a:r>
            <a:r>
              <a:rPr b="1" lang="ko" sz="8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 “방향과 판단은 사람이 잡고, AI는 반복 실험과 구조 정리를 빠르게 돕는 방식”이 가장 효율적이었다.</a:t>
            </a:r>
            <a:endParaRPr sz="1200">
              <a:solidFill>
                <a:srgbClr val="FADB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58"/>
          <p:cNvSpPr/>
          <p:nvPr/>
        </p:nvSpPr>
        <p:spPr>
          <a:xfrm>
            <a:off x="457200" y="932688"/>
            <a:ext cx="8229600" cy="2280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58"/>
          <p:cNvSpPr/>
          <p:nvPr/>
        </p:nvSpPr>
        <p:spPr>
          <a:xfrm>
            <a:off x="457200" y="1005840"/>
            <a:ext cx="4251900" cy="160020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58"/>
          <p:cNvSpPr/>
          <p:nvPr/>
        </p:nvSpPr>
        <p:spPr>
          <a:xfrm>
            <a:off x="640080" y="1097280"/>
            <a:ext cx="438900" cy="438900"/>
          </a:xfrm>
          <a:prstGeom prst="ellipse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58"/>
          <p:cNvSpPr/>
          <p:nvPr/>
        </p:nvSpPr>
        <p:spPr>
          <a:xfrm>
            <a:off x="640080" y="1097280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k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🔁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58"/>
          <p:cNvSpPr/>
          <p:nvPr/>
        </p:nvSpPr>
        <p:spPr>
          <a:xfrm>
            <a:off x="1170432" y="1115568"/>
            <a:ext cx="34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ko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① 체크포인트 Resume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58"/>
          <p:cNvSpPr/>
          <p:nvPr/>
        </p:nvSpPr>
        <p:spPr>
          <a:xfrm>
            <a:off x="640080" y="1591056"/>
            <a:ext cx="39318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학습 중간에 뻗어도 OK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os.path.exists()로 있으면 로드,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없으면 처음부터 — 시간 낭비 제로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58"/>
          <p:cNvSpPr/>
          <p:nvPr/>
        </p:nvSpPr>
        <p:spPr>
          <a:xfrm>
            <a:off x="4764090" y="1005840"/>
            <a:ext cx="4251900" cy="160020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58"/>
          <p:cNvSpPr/>
          <p:nvPr/>
        </p:nvSpPr>
        <p:spPr>
          <a:xfrm>
            <a:off x="5074920" y="1097280"/>
            <a:ext cx="438900" cy="438900"/>
          </a:xfrm>
          <a:prstGeom prst="ellipse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58"/>
          <p:cNvSpPr/>
          <p:nvPr/>
        </p:nvSpPr>
        <p:spPr>
          <a:xfrm>
            <a:off x="4946970" y="1097280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k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💾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58"/>
          <p:cNvSpPr/>
          <p:nvPr/>
        </p:nvSpPr>
        <p:spPr>
          <a:xfrm>
            <a:off x="5477322" y="1115568"/>
            <a:ext cx="34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ko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② 로딩/저장 명시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58"/>
          <p:cNvSpPr/>
          <p:nvPr/>
        </p:nvSpPr>
        <p:spPr>
          <a:xfrm>
            <a:off x="4946970" y="1591056"/>
            <a:ext cx="39318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코드에 저장/로드 먼저 확인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.pt / .npy / .pkl 역할 분리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저장 없이 학습 돌리지 않기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58"/>
          <p:cNvSpPr/>
          <p:nvPr/>
        </p:nvSpPr>
        <p:spPr>
          <a:xfrm>
            <a:off x="457200" y="2724912"/>
            <a:ext cx="2761500" cy="210300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58"/>
          <p:cNvSpPr/>
          <p:nvPr/>
        </p:nvSpPr>
        <p:spPr>
          <a:xfrm>
            <a:off x="621792" y="2816352"/>
            <a:ext cx="411600" cy="411600"/>
          </a:xfrm>
          <a:prstGeom prst="ellipse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58"/>
          <p:cNvSpPr/>
          <p:nvPr/>
        </p:nvSpPr>
        <p:spPr>
          <a:xfrm>
            <a:off x="621792" y="2816352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ko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58"/>
          <p:cNvSpPr/>
          <p:nvPr/>
        </p:nvSpPr>
        <p:spPr>
          <a:xfrm>
            <a:off x="1115568" y="2834640"/>
            <a:ext cx="199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ko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③ 마크다운 주석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58"/>
          <p:cNvSpPr/>
          <p:nvPr/>
        </p:nvSpPr>
        <p:spPr>
          <a:xfrm>
            <a:off x="621792" y="3291840"/>
            <a:ext cx="24873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"인간이 보기 편하게 만들어줘"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셀마다 💬해석 + 의사결정 기록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AI가 더 예쁘고 체계적으로 써줌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58"/>
          <p:cNvSpPr/>
          <p:nvPr/>
        </p:nvSpPr>
        <p:spPr>
          <a:xfrm>
            <a:off x="3355848" y="2724912"/>
            <a:ext cx="2761500" cy="210300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58"/>
          <p:cNvSpPr/>
          <p:nvPr/>
        </p:nvSpPr>
        <p:spPr>
          <a:xfrm>
            <a:off x="3520440" y="2816352"/>
            <a:ext cx="411600" cy="411600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58"/>
          <p:cNvSpPr/>
          <p:nvPr/>
        </p:nvSpPr>
        <p:spPr>
          <a:xfrm>
            <a:off x="3520440" y="2816352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ko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🔔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58"/>
          <p:cNvSpPr/>
          <p:nvPr/>
        </p:nvSpPr>
        <p:spPr>
          <a:xfrm>
            <a:off x="4014216" y="2834640"/>
            <a:ext cx="199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ko" sz="115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④ Discord Webhook</a:t>
            </a:r>
            <a:endParaRPr b="1" i="0" sz="115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58"/>
          <p:cNvSpPr/>
          <p:nvPr/>
        </p:nvSpPr>
        <p:spPr>
          <a:xfrm>
            <a:off x="3520440" y="3291840"/>
            <a:ext cx="24873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셀 완료마다 알림 전송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자리 비워도 진행 상황 확인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send_discord_message() 1줄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58"/>
          <p:cNvSpPr/>
          <p:nvPr/>
        </p:nvSpPr>
        <p:spPr>
          <a:xfrm>
            <a:off x="6254496" y="2724912"/>
            <a:ext cx="2761500" cy="210300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58"/>
          <p:cNvSpPr/>
          <p:nvPr/>
        </p:nvSpPr>
        <p:spPr>
          <a:xfrm>
            <a:off x="6419088" y="2816352"/>
            <a:ext cx="411600" cy="411600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58"/>
          <p:cNvSpPr/>
          <p:nvPr/>
        </p:nvSpPr>
        <p:spPr>
          <a:xfrm>
            <a:off x="6419088" y="2816352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ko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🚀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58"/>
          <p:cNvSpPr/>
          <p:nvPr/>
        </p:nvSpPr>
        <p:spPr>
          <a:xfrm>
            <a:off x="6912864" y="2834640"/>
            <a:ext cx="199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ko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⑤ GPU 메모리 다이어트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58"/>
          <p:cNvSpPr/>
          <p:nvPr/>
        </p:nvSpPr>
        <p:spPr>
          <a:xfrm>
            <a:off x="6419088" y="3291840"/>
            <a:ext cx="24873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Downcasting → 46% 절감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PYTORCH_CUDA_ALLOC_CONF 설정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SKIP 플래그로 무거운 실험 on/off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4A4A"/>
        </a:solidFill>
      </p:bgPr>
    </p:bg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59"/>
          <p:cNvSpPr/>
          <p:nvPr/>
        </p:nvSpPr>
        <p:spPr>
          <a:xfrm>
            <a:off x="0" y="0"/>
            <a:ext cx="9144000" cy="5040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59"/>
          <p:cNvSpPr/>
          <p:nvPr/>
        </p:nvSpPr>
        <p:spPr>
          <a:xfrm>
            <a:off x="457200" y="109728"/>
            <a:ext cx="82296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ko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Lessons Learned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59"/>
          <p:cNvSpPr/>
          <p:nvPr/>
        </p:nvSpPr>
        <p:spPr>
          <a:xfrm>
            <a:off x="457200" y="621792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200"/>
              <a:buFont typeface="Calibri"/>
              <a:buNone/>
            </a:pPr>
            <a:r>
              <a:rPr lang="ko" sz="1200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극복 노트  —  AI TIP : </a:t>
            </a:r>
            <a:r>
              <a:rPr b="1" lang="ko" sz="8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 “방향과 판단은 사람이 잡고, AI는 반복 실험과 구조 정리를 빠르게 돕는 방식”이 가장 효율적이었다.</a:t>
            </a:r>
            <a:endParaRPr sz="1200">
              <a:solidFill>
                <a:srgbClr val="FADB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59"/>
          <p:cNvSpPr/>
          <p:nvPr/>
        </p:nvSpPr>
        <p:spPr>
          <a:xfrm>
            <a:off x="457200" y="932688"/>
            <a:ext cx="8229600" cy="2280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59"/>
          <p:cNvSpPr/>
          <p:nvPr/>
        </p:nvSpPr>
        <p:spPr>
          <a:xfrm>
            <a:off x="457200" y="1005840"/>
            <a:ext cx="4251900" cy="160020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59"/>
          <p:cNvSpPr/>
          <p:nvPr/>
        </p:nvSpPr>
        <p:spPr>
          <a:xfrm>
            <a:off x="640080" y="1097280"/>
            <a:ext cx="438900" cy="438900"/>
          </a:xfrm>
          <a:prstGeom prst="ellipse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59"/>
          <p:cNvSpPr/>
          <p:nvPr/>
        </p:nvSpPr>
        <p:spPr>
          <a:xfrm>
            <a:off x="640080" y="1097280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k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🔁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59"/>
          <p:cNvSpPr/>
          <p:nvPr/>
        </p:nvSpPr>
        <p:spPr>
          <a:xfrm>
            <a:off x="1170432" y="1115568"/>
            <a:ext cx="34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ko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① 체크포인트 Resume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59"/>
          <p:cNvSpPr/>
          <p:nvPr/>
        </p:nvSpPr>
        <p:spPr>
          <a:xfrm>
            <a:off x="640080" y="1591056"/>
            <a:ext cx="39318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학습 중간에 뻗어도 OK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os.path.exists()로 있으면 로드,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없으면 처음부터 — 시간 낭비 제로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59"/>
          <p:cNvSpPr/>
          <p:nvPr/>
        </p:nvSpPr>
        <p:spPr>
          <a:xfrm>
            <a:off x="4764090" y="1005840"/>
            <a:ext cx="4251900" cy="160020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59"/>
          <p:cNvSpPr/>
          <p:nvPr/>
        </p:nvSpPr>
        <p:spPr>
          <a:xfrm>
            <a:off x="5074920" y="1097280"/>
            <a:ext cx="438900" cy="438900"/>
          </a:xfrm>
          <a:prstGeom prst="ellipse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59"/>
          <p:cNvSpPr/>
          <p:nvPr/>
        </p:nvSpPr>
        <p:spPr>
          <a:xfrm>
            <a:off x="4946970" y="1097280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k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💾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59"/>
          <p:cNvSpPr/>
          <p:nvPr/>
        </p:nvSpPr>
        <p:spPr>
          <a:xfrm>
            <a:off x="5477322" y="1115568"/>
            <a:ext cx="34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ko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② 로딩/저장 명시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59"/>
          <p:cNvSpPr/>
          <p:nvPr/>
        </p:nvSpPr>
        <p:spPr>
          <a:xfrm>
            <a:off x="4946970" y="1591056"/>
            <a:ext cx="39318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코드에 저장/로드 먼저 확인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.pt / .npy / .pkl 역할 분리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저장 없이 학습 돌리지 않기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59"/>
          <p:cNvSpPr/>
          <p:nvPr/>
        </p:nvSpPr>
        <p:spPr>
          <a:xfrm>
            <a:off x="457200" y="2724912"/>
            <a:ext cx="2761500" cy="210300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59"/>
          <p:cNvSpPr/>
          <p:nvPr/>
        </p:nvSpPr>
        <p:spPr>
          <a:xfrm>
            <a:off x="621792" y="2816352"/>
            <a:ext cx="411600" cy="411600"/>
          </a:xfrm>
          <a:prstGeom prst="ellipse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59"/>
          <p:cNvSpPr/>
          <p:nvPr/>
        </p:nvSpPr>
        <p:spPr>
          <a:xfrm>
            <a:off x="621792" y="2816352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ko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59"/>
          <p:cNvSpPr/>
          <p:nvPr/>
        </p:nvSpPr>
        <p:spPr>
          <a:xfrm>
            <a:off x="1115568" y="2834640"/>
            <a:ext cx="199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ko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③ 마크다운 주석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59"/>
          <p:cNvSpPr/>
          <p:nvPr/>
        </p:nvSpPr>
        <p:spPr>
          <a:xfrm>
            <a:off x="621792" y="3291840"/>
            <a:ext cx="24873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"인간이 보기 편하게 만들어줘"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셀마다 💬해석 + 의사결정 기록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AI가 더 예쁘고 체계적으로 써줌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59"/>
          <p:cNvSpPr/>
          <p:nvPr/>
        </p:nvSpPr>
        <p:spPr>
          <a:xfrm>
            <a:off x="3355848" y="2724912"/>
            <a:ext cx="2761500" cy="210300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59"/>
          <p:cNvSpPr/>
          <p:nvPr/>
        </p:nvSpPr>
        <p:spPr>
          <a:xfrm>
            <a:off x="3520440" y="2816352"/>
            <a:ext cx="411600" cy="411600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59"/>
          <p:cNvSpPr/>
          <p:nvPr/>
        </p:nvSpPr>
        <p:spPr>
          <a:xfrm>
            <a:off x="3520440" y="2816352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ko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🔔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59"/>
          <p:cNvSpPr/>
          <p:nvPr/>
        </p:nvSpPr>
        <p:spPr>
          <a:xfrm>
            <a:off x="4014216" y="2834640"/>
            <a:ext cx="199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Font typeface="Calibri"/>
              <a:buNone/>
            </a:pPr>
            <a:r>
              <a:rPr b="1" lang="ko" sz="115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④ Discord Webhook</a:t>
            </a:r>
            <a:endParaRPr b="1" sz="11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59"/>
          <p:cNvSpPr/>
          <p:nvPr/>
        </p:nvSpPr>
        <p:spPr>
          <a:xfrm>
            <a:off x="3520440" y="3291840"/>
            <a:ext cx="24873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셀 완료마다 알림 전송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자리 비워도 진행 상황 확인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send_discord_message() 1줄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59"/>
          <p:cNvSpPr/>
          <p:nvPr/>
        </p:nvSpPr>
        <p:spPr>
          <a:xfrm>
            <a:off x="6254496" y="2724912"/>
            <a:ext cx="2761500" cy="210300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59"/>
          <p:cNvSpPr/>
          <p:nvPr/>
        </p:nvSpPr>
        <p:spPr>
          <a:xfrm>
            <a:off x="6419088" y="2816352"/>
            <a:ext cx="411600" cy="411600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59"/>
          <p:cNvSpPr/>
          <p:nvPr/>
        </p:nvSpPr>
        <p:spPr>
          <a:xfrm>
            <a:off x="6419088" y="2816352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ko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🚀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59"/>
          <p:cNvSpPr/>
          <p:nvPr/>
        </p:nvSpPr>
        <p:spPr>
          <a:xfrm>
            <a:off x="6912864" y="2834640"/>
            <a:ext cx="199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ko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⑤ GPU 메모리 다이어트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59"/>
          <p:cNvSpPr/>
          <p:nvPr/>
        </p:nvSpPr>
        <p:spPr>
          <a:xfrm>
            <a:off x="6419088" y="3291840"/>
            <a:ext cx="24873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Downcasting → 46% 절감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PYTORCH_CUDA_ALLOC_CONF 설정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SKIP 플래그로 무거운 실험 on/off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1" name="Google Shape;841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4225" y="120825"/>
            <a:ext cx="5048250" cy="253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4A4A"/>
        </a:solidFill>
      </p:bgPr>
    </p:bg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60"/>
          <p:cNvSpPr/>
          <p:nvPr/>
        </p:nvSpPr>
        <p:spPr>
          <a:xfrm>
            <a:off x="0" y="0"/>
            <a:ext cx="9144000" cy="5040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60"/>
          <p:cNvSpPr/>
          <p:nvPr/>
        </p:nvSpPr>
        <p:spPr>
          <a:xfrm>
            <a:off x="457200" y="109728"/>
            <a:ext cx="82296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ko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Lessons Learned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60"/>
          <p:cNvSpPr/>
          <p:nvPr/>
        </p:nvSpPr>
        <p:spPr>
          <a:xfrm>
            <a:off x="457200" y="621792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200"/>
              <a:buFont typeface="Calibri"/>
              <a:buNone/>
            </a:pPr>
            <a:r>
              <a:rPr lang="ko" sz="1200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극복 노트  —  AI TIP : </a:t>
            </a:r>
            <a:r>
              <a:rPr b="1" lang="ko" sz="8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 “방향과 판단은 사람이 잡고, AI는 반복 실험과 구조 정리를 빠르게 돕는 방식”이 가장 효율적이었다.</a:t>
            </a:r>
            <a:endParaRPr sz="1200">
              <a:solidFill>
                <a:srgbClr val="FADB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60"/>
          <p:cNvSpPr/>
          <p:nvPr/>
        </p:nvSpPr>
        <p:spPr>
          <a:xfrm>
            <a:off x="457200" y="932688"/>
            <a:ext cx="8229600" cy="2280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60"/>
          <p:cNvSpPr/>
          <p:nvPr/>
        </p:nvSpPr>
        <p:spPr>
          <a:xfrm>
            <a:off x="457200" y="1005840"/>
            <a:ext cx="4251900" cy="160020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60"/>
          <p:cNvSpPr/>
          <p:nvPr/>
        </p:nvSpPr>
        <p:spPr>
          <a:xfrm>
            <a:off x="640080" y="1097280"/>
            <a:ext cx="438900" cy="438900"/>
          </a:xfrm>
          <a:prstGeom prst="ellipse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60"/>
          <p:cNvSpPr/>
          <p:nvPr/>
        </p:nvSpPr>
        <p:spPr>
          <a:xfrm>
            <a:off x="640080" y="1097280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k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🔁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60"/>
          <p:cNvSpPr/>
          <p:nvPr/>
        </p:nvSpPr>
        <p:spPr>
          <a:xfrm>
            <a:off x="1170432" y="1115568"/>
            <a:ext cx="34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ko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① 체크포인트 Resume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60"/>
          <p:cNvSpPr/>
          <p:nvPr/>
        </p:nvSpPr>
        <p:spPr>
          <a:xfrm>
            <a:off x="640080" y="1591056"/>
            <a:ext cx="39318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학습 중간에 뻗어도 OK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os.path.exists()로 있으면 로드,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없으면 처음부터 — 시간 낭비 제로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60"/>
          <p:cNvSpPr/>
          <p:nvPr/>
        </p:nvSpPr>
        <p:spPr>
          <a:xfrm>
            <a:off x="4764090" y="1005840"/>
            <a:ext cx="4251900" cy="160020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60"/>
          <p:cNvSpPr/>
          <p:nvPr/>
        </p:nvSpPr>
        <p:spPr>
          <a:xfrm>
            <a:off x="5074920" y="1097280"/>
            <a:ext cx="438900" cy="438900"/>
          </a:xfrm>
          <a:prstGeom prst="ellipse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60"/>
          <p:cNvSpPr/>
          <p:nvPr/>
        </p:nvSpPr>
        <p:spPr>
          <a:xfrm>
            <a:off x="4946970" y="1097280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k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💾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60"/>
          <p:cNvSpPr/>
          <p:nvPr/>
        </p:nvSpPr>
        <p:spPr>
          <a:xfrm>
            <a:off x="5477322" y="1115568"/>
            <a:ext cx="34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ko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② 로딩/저장 명시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60"/>
          <p:cNvSpPr/>
          <p:nvPr/>
        </p:nvSpPr>
        <p:spPr>
          <a:xfrm>
            <a:off x="4946970" y="1591056"/>
            <a:ext cx="39318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코드에 저장/로드 먼저 확인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.pt / .npy / .pkl 역할 분리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저장 없이 학습 돌리지 않기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60"/>
          <p:cNvSpPr/>
          <p:nvPr/>
        </p:nvSpPr>
        <p:spPr>
          <a:xfrm>
            <a:off x="457200" y="2724912"/>
            <a:ext cx="2761500" cy="210300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60"/>
          <p:cNvSpPr/>
          <p:nvPr/>
        </p:nvSpPr>
        <p:spPr>
          <a:xfrm>
            <a:off x="621792" y="2816352"/>
            <a:ext cx="411600" cy="411600"/>
          </a:xfrm>
          <a:prstGeom prst="ellipse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60"/>
          <p:cNvSpPr/>
          <p:nvPr/>
        </p:nvSpPr>
        <p:spPr>
          <a:xfrm>
            <a:off x="621792" y="2816352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ko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60"/>
          <p:cNvSpPr/>
          <p:nvPr/>
        </p:nvSpPr>
        <p:spPr>
          <a:xfrm>
            <a:off x="1115568" y="2834640"/>
            <a:ext cx="199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ko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③ 마크다운 주석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60"/>
          <p:cNvSpPr/>
          <p:nvPr/>
        </p:nvSpPr>
        <p:spPr>
          <a:xfrm>
            <a:off x="621792" y="3291840"/>
            <a:ext cx="24873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"인간이 보기 편하게 만들어줘"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셀마다 💬해석 + 의사결정 기록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AI가 더 예쁘고 체계적으로 써줌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60"/>
          <p:cNvSpPr/>
          <p:nvPr/>
        </p:nvSpPr>
        <p:spPr>
          <a:xfrm>
            <a:off x="3355848" y="2724912"/>
            <a:ext cx="2761500" cy="210300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60"/>
          <p:cNvSpPr/>
          <p:nvPr/>
        </p:nvSpPr>
        <p:spPr>
          <a:xfrm>
            <a:off x="3520440" y="2816352"/>
            <a:ext cx="411600" cy="411600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60"/>
          <p:cNvSpPr/>
          <p:nvPr/>
        </p:nvSpPr>
        <p:spPr>
          <a:xfrm>
            <a:off x="3520440" y="2816352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ko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🔔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60"/>
          <p:cNvSpPr/>
          <p:nvPr/>
        </p:nvSpPr>
        <p:spPr>
          <a:xfrm>
            <a:off x="4014216" y="2834640"/>
            <a:ext cx="199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Font typeface="Calibri"/>
              <a:buNone/>
            </a:pPr>
            <a:r>
              <a:rPr b="1" lang="ko" sz="115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④ Discord Webhook</a:t>
            </a:r>
            <a:endParaRPr b="1" sz="11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60"/>
          <p:cNvSpPr/>
          <p:nvPr/>
        </p:nvSpPr>
        <p:spPr>
          <a:xfrm>
            <a:off x="3520440" y="3291840"/>
            <a:ext cx="24873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셀 완료마다 알림 전송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자리 비워도 진행 상황 확인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send_discord_message() 1줄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60"/>
          <p:cNvSpPr/>
          <p:nvPr/>
        </p:nvSpPr>
        <p:spPr>
          <a:xfrm>
            <a:off x="6254496" y="2724912"/>
            <a:ext cx="2761500" cy="210300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60"/>
          <p:cNvSpPr/>
          <p:nvPr/>
        </p:nvSpPr>
        <p:spPr>
          <a:xfrm>
            <a:off x="6419088" y="2816352"/>
            <a:ext cx="411600" cy="411600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60"/>
          <p:cNvSpPr/>
          <p:nvPr/>
        </p:nvSpPr>
        <p:spPr>
          <a:xfrm>
            <a:off x="6419088" y="2816352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ko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🚀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60"/>
          <p:cNvSpPr/>
          <p:nvPr/>
        </p:nvSpPr>
        <p:spPr>
          <a:xfrm>
            <a:off x="6912864" y="2834640"/>
            <a:ext cx="199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ko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⑤ GPU 메모리 다이어트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60"/>
          <p:cNvSpPr/>
          <p:nvPr/>
        </p:nvSpPr>
        <p:spPr>
          <a:xfrm>
            <a:off x="6419088" y="3291840"/>
            <a:ext cx="24873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Downcasting → 46% 절감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PYTORCH_CUDA_ALLOC_CONF 설정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SKIP 플래그로 무거운 실험 on/off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6" name="Google Shape;876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4225" y="120825"/>
            <a:ext cx="5048250" cy="253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7" name="Google Shape;877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24348" y="940548"/>
            <a:ext cx="6038125" cy="173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8" name="Google Shape;878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46538" y="2656400"/>
            <a:ext cx="3000375" cy="102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4A4A"/>
        </a:solidFill>
      </p:bgPr>
    </p:bg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61"/>
          <p:cNvSpPr/>
          <p:nvPr/>
        </p:nvSpPr>
        <p:spPr>
          <a:xfrm>
            <a:off x="0" y="0"/>
            <a:ext cx="9144000" cy="5040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61"/>
          <p:cNvSpPr/>
          <p:nvPr/>
        </p:nvSpPr>
        <p:spPr>
          <a:xfrm>
            <a:off x="457200" y="109728"/>
            <a:ext cx="82296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ko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Lessons Learned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61"/>
          <p:cNvSpPr/>
          <p:nvPr/>
        </p:nvSpPr>
        <p:spPr>
          <a:xfrm>
            <a:off x="457200" y="621792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200"/>
              <a:buFont typeface="Calibri"/>
              <a:buNone/>
            </a:pPr>
            <a:r>
              <a:rPr lang="ko" sz="1200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극복 노트  —  AI TIP : </a:t>
            </a:r>
            <a:r>
              <a:rPr b="1" lang="ko" sz="8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 “방향과 판단은 사람이 잡고, AI는 반복 실험과 구조 정리를 빠르게 돕는 방식”이 가장 효율적이었다.</a:t>
            </a:r>
            <a:endParaRPr sz="1200">
              <a:solidFill>
                <a:srgbClr val="FADB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61"/>
          <p:cNvSpPr/>
          <p:nvPr/>
        </p:nvSpPr>
        <p:spPr>
          <a:xfrm>
            <a:off x="457200" y="932688"/>
            <a:ext cx="8229600" cy="2280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61"/>
          <p:cNvSpPr/>
          <p:nvPr/>
        </p:nvSpPr>
        <p:spPr>
          <a:xfrm>
            <a:off x="457200" y="1005840"/>
            <a:ext cx="4251900" cy="160020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61"/>
          <p:cNvSpPr/>
          <p:nvPr/>
        </p:nvSpPr>
        <p:spPr>
          <a:xfrm>
            <a:off x="640080" y="1097280"/>
            <a:ext cx="438900" cy="438900"/>
          </a:xfrm>
          <a:prstGeom prst="ellipse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61"/>
          <p:cNvSpPr/>
          <p:nvPr/>
        </p:nvSpPr>
        <p:spPr>
          <a:xfrm>
            <a:off x="640080" y="1097280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k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🔁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61"/>
          <p:cNvSpPr/>
          <p:nvPr/>
        </p:nvSpPr>
        <p:spPr>
          <a:xfrm>
            <a:off x="1170432" y="1115568"/>
            <a:ext cx="34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ko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① 체크포인트 Resume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61"/>
          <p:cNvSpPr/>
          <p:nvPr/>
        </p:nvSpPr>
        <p:spPr>
          <a:xfrm>
            <a:off x="640080" y="1591056"/>
            <a:ext cx="39318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학습 중간에 뻗어도 OK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os.path.exists()로 있으면 로드,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없으면 처음부터 — 시간 낭비 제로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61"/>
          <p:cNvSpPr/>
          <p:nvPr/>
        </p:nvSpPr>
        <p:spPr>
          <a:xfrm>
            <a:off x="4764090" y="1005840"/>
            <a:ext cx="4251900" cy="160020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61"/>
          <p:cNvSpPr/>
          <p:nvPr/>
        </p:nvSpPr>
        <p:spPr>
          <a:xfrm>
            <a:off x="5074920" y="1097280"/>
            <a:ext cx="438900" cy="438900"/>
          </a:xfrm>
          <a:prstGeom prst="ellipse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61"/>
          <p:cNvSpPr/>
          <p:nvPr/>
        </p:nvSpPr>
        <p:spPr>
          <a:xfrm>
            <a:off x="4946970" y="1097280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k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💾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61"/>
          <p:cNvSpPr/>
          <p:nvPr/>
        </p:nvSpPr>
        <p:spPr>
          <a:xfrm>
            <a:off x="5477322" y="1115568"/>
            <a:ext cx="34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ko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② 로딩/저장 명시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61"/>
          <p:cNvSpPr/>
          <p:nvPr/>
        </p:nvSpPr>
        <p:spPr>
          <a:xfrm>
            <a:off x="4946970" y="1591056"/>
            <a:ext cx="39318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코드에 저장/로드 먼저 확인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.pt / .npy / .pkl 역할 분리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저장 없이 학습 돌리지 않기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61"/>
          <p:cNvSpPr/>
          <p:nvPr/>
        </p:nvSpPr>
        <p:spPr>
          <a:xfrm>
            <a:off x="457200" y="2724912"/>
            <a:ext cx="2761500" cy="210300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61"/>
          <p:cNvSpPr/>
          <p:nvPr/>
        </p:nvSpPr>
        <p:spPr>
          <a:xfrm>
            <a:off x="621792" y="2816352"/>
            <a:ext cx="411600" cy="411600"/>
          </a:xfrm>
          <a:prstGeom prst="ellipse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61"/>
          <p:cNvSpPr/>
          <p:nvPr/>
        </p:nvSpPr>
        <p:spPr>
          <a:xfrm>
            <a:off x="621792" y="2816352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ko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61"/>
          <p:cNvSpPr/>
          <p:nvPr/>
        </p:nvSpPr>
        <p:spPr>
          <a:xfrm>
            <a:off x="1115568" y="2834640"/>
            <a:ext cx="199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ko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③ 마크다운 주석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61"/>
          <p:cNvSpPr/>
          <p:nvPr/>
        </p:nvSpPr>
        <p:spPr>
          <a:xfrm>
            <a:off x="621792" y="3291840"/>
            <a:ext cx="24873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"인간이 보기 편하게 만들어줘"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셀마다 💬해석 + 의사결정 기록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AI가 더 예쁘고 체계적으로 써줌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61"/>
          <p:cNvSpPr/>
          <p:nvPr/>
        </p:nvSpPr>
        <p:spPr>
          <a:xfrm>
            <a:off x="3355848" y="2724912"/>
            <a:ext cx="2761500" cy="210300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61"/>
          <p:cNvSpPr/>
          <p:nvPr/>
        </p:nvSpPr>
        <p:spPr>
          <a:xfrm>
            <a:off x="3520440" y="2816352"/>
            <a:ext cx="411600" cy="411600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61"/>
          <p:cNvSpPr/>
          <p:nvPr/>
        </p:nvSpPr>
        <p:spPr>
          <a:xfrm>
            <a:off x="3520440" y="2816352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ko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🔔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61"/>
          <p:cNvSpPr/>
          <p:nvPr/>
        </p:nvSpPr>
        <p:spPr>
          <a:xfrm>
            <a:off x="4014216" y="2834640"/>
            <a:ext cx="199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ko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④ Discord Webhook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61"/>
          <p:cNvSpPr/>
          <p:nvPr/>
        </p:nvSpPr>
        <p:spPr>
          <a:xfrm>
            <a:off x="3520440" y="3291840"/>
            <a:ext cx="24873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셀 완료마다 알림 전송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자리 비워도 진행 상황 확인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send_discord_message() 1줄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61"/>
          <p:cNvSpPr/>
          <p:nvPr/>
        </p:nvSpPr>
        <p:spPr>
          <a:xfrm>
            <a:off x="6254496" y="2724912"/>
            <a:ext cx="2761500" cy="210300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61"/>
          <p:cNvSpPr/>
          <p:nvPr/>
        </p:nvSpPr>
        <p:spPr>
          <a:xfrm>
            <a:off x="6419088" y="2816352"/>
            <a:ext cx="411600" cy="411600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61"/>
          <p:cNvSpPr/>
          <p:nvPr/>
        </p:nvSpPr>
        <p:spPr>
          <a:xfrm>
            <a:off x="6419088" y="2816352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ko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🚀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61"/>
          <p:cNvSpPr/>
          <p:nvPr/>
        </p:nvSpPr>
        <p:spPr>
          <a:xfrm>
            <a:off x="6912864" y="2834640"/>
            <a:ext cx="199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ko" sz="115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⑤ GPU 메모리 다이어트</a:t>
            </a:r>
            <a:endParaRPr b="1" i="0" sz="115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61"/>
          <p:cNvSpPr/>
          <p:nvPr/>
        </p:nvSpPr>
        <p:spPr>
          <a:xfrm>
            <a:off x="6419088" y="3291840"/>
            <a:ext cx="24873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Downcasting → 46% 절감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PYTORCH_CUDA_ALLOC_CONF 설정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DBD8"/>
              </a:buClr>
              <a:buSzPts val="1100"/>
              <a:buFont typeface="Calibri"/>
              <a:buNone/>
            </a:pPr>
            <a:r>
              <a:rPr b="0" i="0" lang="ko" sz="1100" u="none" cap="none" strike="noStrike">
                <a:solidFill>
                  <a:srgbClr val="FADBD8"/>
                </a:solidFill>
                <a:latin typeface="Calibri"/>
                <a:ea typeface="Calibri"/>
                <a:cs typeface="Calibri"/>
                <a:sym typeface="Calibri"/>
              </a:rPr>
              <a:t>SKIP 플래그로 무거운 실험 on/off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data/ppt_assets/code_downcasting.jpg" id="913" name="Google Shape;913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3585" y="1191765"/>
            <a:ext cx="5651214" cy="355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1A1A"/>
        </a:solidFill>
      </p:bgPr>
    </p:bg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62"/>
          <p:cNvSpPr/>
          <p:nvPr/>
        </p:nvSpPr>
        <p:spPr>
          <a:xfrm>
            <a:off x="0" y="0"/>
            <a:ext cx="137100" cy="5143500"/>
          </a:xfrm>
          <a:prstGeom prst="rect">
            <a:avLst/>
          </a:prstGeom>
          <a:solidFill>
            <a:srgbClr val="FFFFFF">
              <a:alpha val="851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62"/>
          <p:cNvSpPr/>
          <p:nvPr/>
        </p:nvSpPr>
        <p:spPr>
          <a:xfrm>
            <a:off x="228600" y="0"/>
            <a:ext cx="45600" cy="5143500"/>
          </a:xfrm>
          <a:prstGeom prst="rect">
            <a:avLst/>
          </a:prstGeom>
          <a:solidFill>
            <a:srgbClr val="FFFFFF">
              <a:alpha val="9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62"/>
          <p:cNvSpPr/>
          <p:nvPr/>
        </p:nvSpPr>
        <p:spPr>
          <a:xfrm>
            <a:off x="731520" y="1371600"/>
            <a:ext cx="7680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Arial Black"/>
              <a:buNone/>
            </a:pPr>
            <a:r>
              <a:rPr b="1" i="0" lang="ko" sz="5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Q &amp; A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62"/>
          <p:cNvSpPr/>
          <p:nvPr/>
        </p:nvSpPr>
        <p:spPr>
          <a:xfrm>
            <a:off x="731520" y="2926080"/>
            <a:ext cx="7680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A0"/>
              </a:buClr>
              <a:buSzPts val="1800"/>
              <a:buFont typeface="Calibri"/>
              <a:buNone/>
            </a:pPr>
            <a:r>
              <a:rPr b="0" i="0" lang="ko" sz="1800" u="none" cap="none" strike="noStrike">
                <a:solidFill>
                  <a:srgbClr val="D4A0A0"/>
                </a:solidFill>
                <a:latin typeface="Calibri"/>
                <a:ea typeface="Calibri"/>
                <a:cs typeface="Calibri"/>
                <a:sym typeface="Calibri"/>
              </a:rPr>
              <a:t>질문과 피드백을 환영합니다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62"/>
          <p:cNvSpPr/>
          <p:nvPr/>
        </p:nvSpPr>
        <p:spPr>
          <a:xfrm>
            <a:off x="731520" y="3657600"/>
            <a:ext cx="1828800" cy="27300"/>
          </a:xfrm>
          <a:prstGeom prst="rect">
            <a:avLst/>
          </a:prstGeom>
          <a:solidFill>
            <a:srgbClr val="D4A0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62"/>
          <p:cNvSpPr/>
          <p:nvPr/>
        </p:nvSpPr>
        <p:spPr>
          <a:xfrm>
            <a:off x="731520" y="3931920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A0"/>
              </a:buClr>
              <a:buSzPts val="1400"/>
              <a:buFont typeface="Calibri"/>
              <a:buNone/>
            </a:pPr>
            <a:r>
              <a:rPr b="0" i="0" lang="ko" sz="1400" u="none" cap="none" strike="noStrike">
                <a:solidFill>
                  <a:srgbClr val="D4A0A0"/>
                </a:solidFill>
                <a:latin typeface="Calibri"/>
                <a:ea typeface="Calibri"/>
                <a:cs typeface="Calibri"/>
                <a:sym typeface="Calibri"/>
              </a:rPr>
              <a:t>감사합니다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